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70" r:id="rId3"/>
    <p:sldId id="271" r:id="rId4"/>
    <p:sldId id="259" r:id="rId5"/>
    <p:sldId id="273" r:id="rId6"/>
    <p:sldId id="272" r:id="rId7"/>
    <p:sldId id="261" r:id="rId8"/>
    <p:sldId id="274" r:id="rId9"/>
    <p:sldId id="275" r:id="rId10"/>
    <p:sldId id="276" r:id="rId11"/>
    <p:sldId id="277" r:id="rId12"/>
    <p:sldId id="280" r:id="rId13"/>
    <p:sldId id="278" r:id="rId14"/>
    <p:sldId id="268" r:id="rId15"/>
    <p:sldId id="267" r:id="rId16"/>
    <p:sldId id="279" r:id="rId17"/>
    <p:sldId id="269" r:id="rId18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6E1"/>
    <a:srgbClr val="F6EBE5"/>
    <a:srgbClr val="F1DFD7"/>
    <a:srgbClr val="E4D5CD"/>
    <a:srgbClr val="F0F0E8"/>
    <a:srgbClr val="EAEEDE"/>
    <a:srgbClr val="F5F6D6"/>
    <a:srgbClr val="F1ECD7"/>
    <a:srgbClr val="DBCEAD"/>
    <a:srgbClr val="A13B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89DA23-B6D8-451A-9353-B963453007E3}" v="114" dt="2026-01-18T10:48:29.84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95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5FB484-FFEA-48FB-B3FA-4CDD5EC4FE8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88025" y="1219200"/>
            <a:ext cx="589915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747838" y="4694238"/>
            <a:ext cx="139795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D7F9D-F6E2-4C3D-A92F-1A8830BB25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225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992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0" i="0">
                <a:solidFill>
                  <a:srgbClr val="03233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6848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0C2D4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E9E7E-2579-4C7D-BAC9-743A534CD24E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50" b="0" i="0">
                <a:solidFill>
                  <a:srgbClr val="03233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0C2D4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A1E95-B9EE-4553-B14B-0EC6A689DC44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50" b="0" i="0">
                <a:solidFill>
                  <a:srgbClr val="03233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848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848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5DA27-0984-4A1A-8B92-A1EAF96A4D98}" type="datetime1">
              <a:rPr lang="en-US" smtClean="0"/>
              <a:t>1/24/2026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50" b="0" i="0">
                <a:solidFill>
                  <a:srgbClr val="03233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BFE44-BCC7-47A4-A4F4-99589C5970A7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AB311-C116-42F2-B1EB-9E660DA66201}" type="datetime1">
              <a:rPr lang="en-US" smtClean="0"/>
              <a:t>1/24/2026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90407" y="732366"/>
            <a:ext cx="14694385" cy="992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0" i="0">
                <a:solidFill>
                  <a:srgbClr val="03233B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33386" y="2070805"/>
            <a:ext cx="7053580" cy="6848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0C2D44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119D3-8F82-4D7E-8108-B4BBC86C3960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>
        <a:defRPr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jp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9445" y="622300"/>
            <a:ext cx="7590155" cy="8216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0400" y="1447800"/>
            <a:ext cx="8318783" cy="2969724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15875" marR="5080" indent="-3810">
              <a:lnSpc>
                <a:spcPct val="83600"/>
              </a:lnSpc>
              <a:spcBef>
                <a:spcPts val="1385"/>
              </a:spcBef>
            </a:pPr>
            <a:r>
              <a:rPr sz="7200" spc="-365" dirty="0">
                <a:solidFill>
                  <a:srgbClr val="000000"/>
                </a:solidFill>
              </a:rPr>
              <a:t>Real</a:t>
            </a:r>
            <a:r>
              <a:rPr sz="7200" spc="-484" dirty="0">
                <a:solidFill>
                  <a:srgbClr val="000000"/>
                </a:solidFill>
              </a:rPr>
              <a:t> </a:t>
            </a:r>
            <a:r>
              <a:rPr sz="7200" spc="-190" dirty="0">
                <a:solidFill>
                  <a:srgbClr val="000000"/>
                </a:solidFill>
              </a:rPr>
              <a:t>Impact-</a:t>
            </a:r>
            <a:r>
              <a:rPr sz="7200" spc="-10" dirty="0">
                <a:solidFill>
                  <a:srgbClr val="000000"/>
                </a:solidFill>
              </a:rPr>
              <a:t>Factor </a:t>
            </a:r>
            <a:r>
              <a:rPr sz="7200" spc="-210" dirty="0">
                <a:solidFill>
                  <a:srgbClr val="000000"/>
                </a:solidFill>
              </a:rPr>
              <a:t>Analysis</a:t>
            </a:r>
            <a:r>
              <a:rPr lang="en-US" sz="7200" spc="-210" dirty="0">
                <a:solidFill>
                  <a:srgbClr val="000000"/>
                </a:solidFill>
              </a:rPr>
              <a:t> Of Academic Journals</a:t>
            </a:r>
            <a:endParaRPr sz="7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095571-ED62-26EB-B1A5-A8941D700772}"/>
              </a:ext>
            </a:extLst>
          </p:cNvPr>
          <p:cNvSpPr txBox="1"/>
          <p:nvPr/>
        </p:nvSpPr>
        <p:spPr>
          <a:xfrm>
            <a:off x="355600" y="5543746"/>
            <a:ext cx="10058400" cy="2146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685" marR="1477010" indent="-7620">
              <a:lnSpc>
                <a:spcPct val="150000"/>
              </a:lnSpc>
              <a:spcBef>
                <a:spcPts val="445"/>
              </a:spcBef>
              <a:tabLst>
                <a:tab pos="1043940" algn="l"/>
                <a:tab pos="2619375" algn="l"/>
                <a:tab pos="3107055" algn="l"/>
              </a:tabLst>
            </a:pPr>
            <a:r>
              <a:rPr lang="en-US" sz="3200" dirty="0">
                <a:solidFill>
                  <a:srgbClr val="0C0C0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Project Phase </a:t>
            </a:r>
            <a:r>
              <a:rPr lang="en-US" sz="3200" dirty="0">
                <a:solidFill>
                  <a:srgbClr val="181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 -   26-1-R-17 </a:t>
            </a:r>
            <a:endParaRPr lang="en-US" sz="3200" dirty="0">
              <a:solidFill>
                <a:srgbClr val="0F0F0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685" marR="1477010" indent="-7620">
              <a:lnSpc>
                <a:spcPct val="150000"/>
              </a:lnSpc>
              <a:spcBef>
                <a:spcPts val="445"/>
              </a:spcBef>
              <a:tabLst>
                <a:tab pos="1043940" algn="l"/>
                <a:tab pos="2619375" algn="l"/>
                <a:tab pos="310705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Authors: Heba Abu Qandil &amp; Orian Haziza </a:t>
            </a:r>
          </a:p>
          <a:p>
            <a:pPr marL="19685" marR="1477010" indent="-7620">
              <a:lnSpc>
                <a:spcPct val="150000"/>
              </a:lnSpc>
              <a:spcBef>
                <a:spcPts val="445"/>
              </a:spcBef>
              <a:tabLst>
                <a:tab pos="1043940" algn="l"/>
                <a:tab pos="2619375" algn="l"/>
                <a:tab pos="310705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Supervisors: Dr. Renata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Avros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Prof. Zeev Volkovich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44346A8-AADA-6FBD-EDAB-A1175497FD5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369332"/>
          </a:xfrm>
        </p:spPr>
        <p:txBody>
          <a:bodyPr/>
          <a:lstStyle/>
          <a:p>
            <a:fld id="{B6F15528-21DE-4FAA-801E-634DDDAF4B2B}" type="slidenum">
              <a:rPr lang="en-US" sz="2400" smtClean="0"/>
              <a:t>1</a:t>
            </a:fld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9FD2B8-6467-CD1E-0C0D-495004510D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412969" cy="10441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D5D4F-6A3E-A93B-5899-EEDDE4922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50FAB7-5FF1-4283-7E24-158364BA3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949404"/>
            <a:ext cx="14694385" cy="1107996"/>
          </a:xfrm>
        </p:spPr>
        <p:txBody>
          <a:bodyPr/>
          <a:lstStyle/>
          <a:p>
            <a:r>
              <a:rPr lang="en-US" sz="7200" dirty="0">
                <a:solidFill>
                  <a:schemeClr val="tx2">
                    <a:lumMod val="75000"/>
                  </a:schemeClr>
                </a:solidFill>
              </a:rPr>
              <a:t>Introduction</a:t>
            </a:r>
            <a:r>
              <a:rPr lang="en-US" sz="7200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7C906B-5FE6-8E7F-37C2-B1A70C08E86D}"/>
              </a:ext>
            </a:extLst>
          </p:cNvPr>
          <p:cNvSpPr txBox="1"/>
          <p:nvPr/>
        </p:nvSpPr>
        <p:spPr>
          <a:xfrm>
            <a:off x="812800" y="3041008"/>
            <a:ext cx="16383000" cy="367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Academic research quality is often judged using quantitative metrics.</a:t>
            </a:r>
          </a:p>
          <a:p>
            <a:pPr>
              <a:lnSpc>
                <a:spcPct val="150000"/>
              </a:lnSpc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The most common of these is the Journal’s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Impact Factor (IF).</a:t>
            </a:r>
          </a:p>
          <a:p>
            <a:pPr>
              <a:lnSpc>
                <a:spcPct val="150000"/>
              </a:lnSpc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IF affects: Funding decisions, Tenure and promotions, Journal prestige.</a:t>
            </a:r>
          </a:p>
          <a:p>
            <a:pPr>
              <a:lnSpc>
                <a:spcPct val="150000"/>
              </a:lnSpc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Therefore, accuracy and reliability of IF are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critical.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2BD0910-D8A3-89FB-239A-62C731D90AC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369332"/>
          </a:xfrm>
        </p:spPr>
        <p:txBody>
          <a:bodyPr/>
          <a:lstStyle/>
          <a:p>
            <a:fld id="{B6F15528-21DE-4FAA-801E-634DDDAF4B2B}" type="slidenum">
              <a:rPr lang="en-US" sz="2400" smtClean="0"/>
              <a:t>2</a:t>
            </a:fld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866290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A73DB-68DE-BA1B-D557-42876F92C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14DAFDE-BC17-554F-08A0-D2C3142F6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314" y="685800"/>
            <a:ext cx="16662401" cy="2215991"/>
          </a:xfrm>
        </p:spPr>
        <p:txBody>
          <a:bodyPr/>
          <a:lstStyle/>
          <a:p>
            <a:r>
              <a:rPr lang="en-US" sz="7200" spc="-190" dirty="0">
                <a:solidFill>
                  <a:srgbClr val="082D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7200" spc="-220" dirty="0">
                <a:solidFill>
                  <a:srgbClr val="0528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Hidden</a:t>
            </a:r>
            <a:r>
              <a:rPr lang="en-US" sz="7200" spc="-365" dirty="0">
                <a:solidFill>
                  <a:srgbClr val="0528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spc="-190" dirty="0">
                <a:solidFill>
                  <a:srgbClr val="0728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Manipulation</a:t>
            </a:r>
            <a:r>
              <a:rPr lang="en-US" sz="7200" spc="-10" dirty="0">
                <a:solidFill>
                  <a:srgbClr val="0728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spc="-35" dirty="0">
                <a:solidFill>
                  <a:srgbClr val="082A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sz="7200" spc="-565" dirty="0">
                <a:solidFill>
                  <a:srgbClr val="082A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spc="-180" dirty="0">
                <a:solidFill>
                  <a:srgbClr val="082F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Citation</a:t>
            </a:r>
            <a:r>
              <a:rPr lang="en-US" sz="7200" spc="-405" dirty="0">
                <a:solidFill>
                  <a:srgbClr val="082F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spc="-135" dirty="0">
                <a:solidFill>
                  <a:srgbClr val="032A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Networks</a:t>
            </a:r>
            <a:endParaRPr lang="en-US" sz="72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711018-ADE9-69B1-4007-35DD45702C42}"/>
              </a:ext>
            </a:extLst>
          </p:cNvPr>
          <p:cNvSpPr txBox="1"/>
          <p:nvPr/>
        </p:nvSpPr>
        <p:spPr>
          <a:xfrm>
            <a:off x="256615" y="2901791"/>
            <a:ext cx="16929100" cy="4236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6900" indent="-584200">
              <a:lnSpc>
                <a:spcPct val="150000"/>
              </a:lnSpc>
              <a:buClr>
                <a:srgbClr val="700808"/>
              </a:buClr>
              <a:buChar char="•"/>
              <a:tabLst>
                <a:tab pos="596900" algn="l"/>
              </a:tabLst>
            </a:pPr>
            <a:r>
              <a:rPr lang="en-US" sz="36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Manipulation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The network is compromised by ’Citation Cartels’, coercive citations, and excessive self- 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citations.</a:t>
            </a:r>
          </a:p>
          <a:p>
            <a:pPr marL="596900" indent="-584200">
              <a:lnSpc>
                <a:spcPct val="150000"/>
              </a:lnSpc>
              <a:buClr>
                <a:srgbClr val="700808"/>
              </a:buClr>
              <a:buFontTx/>
              <a:buChar char="•"/>
              <a:tabLst>
                <a:tab pos="596900" algn="l"/>
              </a:tabLst>
            </a:pPr>
            <a:r>
              <a:rPr lang="en-US" sz="36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Problem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Traditional IF calculate influence using raw, unfiltered data.</a:t>
            </a:r>
          </a:p>
          <a:p>
            <a:pPr marL="596900" indent="-584200">
              <a:lnSpc>
                <a:spcPct val="150000"/>
              </a:lnSpc>
              <a:buClr>
                <a:srgbClr val="770E0A"/>
              </a:buClr>
              <a:buChar char="•"/>
              <a:tabLst>
                <a:tab pos="596900" algn="l"/>
              </a:tabLst>
            </a:pPr>
            <a:r>
              <a:rPr lang="en-US" sz="36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Scale: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Research (Prabha, 1983) indicates that more than two-thirds of references in a typical paper may be superfluous.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D2C7D7C5-74BC-01B8-B93E-418AC5CE2766}"/>
              </a:ext>
            </a:extLst>
          </p:cNvPr>
          <p:cNvSpPr txBox="1"/>
          <p:nvPr/>
        </p:nvSpPr>
        <p:spPr>
          <a:xfrm>
            <a:off x="3022600" y="8305800"/>
            <a:ext cx="13766800" cy="592663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 indent="6350">
              <a:lnSpc>
                <a:spcPts val="3950"/>
              </a:lnSpc>
              <a:spcBef>
                <a:spcPts val="620"/>
              </a:spcBef>
            </a:pPr>
            <a:r>
              <a:rPr sz="4400" b="1" spc="-17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</a:t>
            </a:r>
            <a:r>
              <a:rPr sz="4400" b="1" spc="-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b="1" spc="-19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r>
              <a:rPr sz="4400" b="1" spc="-1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b="1" spc="-21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misses</a:t>
            </a:r>
            <a:r>
              <a:rPr sz="4400" b="1" spc="-3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</a:t>
            </a:r>
            <a:r>
              <a:rPr sz="4400" b="1" spc="-114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invisible</a:t>
            </a:r>
            <a:r>
              <a:rPr sz="4400" b="1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b="1" spc="-17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cracks</a:t>
            </a:r>
            <a:endParaRPr sz="4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03421-F6D0-6BB6-F404-0A949C64CAA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377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2670" y="2870200"/>
            <a:ext cx="4368800" cy="3759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3582" y="3048000"/>
            <a:ext cx="4203700" cy="3352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97700" y="3937000"/>
            <a:ext cx="3479800" cy="17399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41400" y="387599"/>
            <a:ext cx="17485751" cy="1097949"/>
          </a:xfrm>
          <a:prstGeom prst="rect">
            <a:avLst/>
          </a:prstGeom>
        </p:spPr>
        <p:txBody>
          <a:bodyPr vert="horz" wrap="square" lIns="0" tIns="73871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114"/>
              </a:spcBef>
            </a:pPr>
            <a:r>
              <a:rPr sz="6650" dirty="0">
                <a:solidFill>
                  <a:srgbClr val="072844"/>
                </a:solidFill>
              </a:rPr>
              <a:t>Our </a:t>
            </a:r>
            <a:r>
              <a:rPr sz="6650" dirty="0">
                <a:solidFill>
                  <a:srgbClr val="082F4F"/>
                </a:solidFill>
              </a:rPr>
              <a:t>Mission: </a:t>
            </a:r>
            <a:r>
              <a:rPr lang="en-US" sz="6650" dirty="0">
                <a:solidFill>
                  <a:srgbClr val="082F4F"/>
                </a:solidFill>
              </a:rPr>
              <a:t>R</a:t>
            </a:r>
            <a:r>
              <a:rPr lang="en-US" dirty="0"/>
              <a:t>efining the Impact Factor </a:t>
            </a:r>
            <a:endParaRPr sz="6650" dirty="0"/>
          </a:p>
        </p:txBody>
      </p:sp>
      <p:sp>
        <p:nvSpPr>
          <p:cNvPr id="8" name="object 8"/>
          <p:cNvSpPr txBox="1"/>
          <p:nvPr/>
        </p:nvSpPr>
        <p:spPr>
          <a:xfrm>
            <a:off x="2340463" y="1788007"/>
            <a:ext cx="13944601" cy="75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555865" algn="l"/>
              </a:tabLst>
            </a:pPr>
            <a:r>
              <a:rPr sz="4800" spc="-484" dirty="0">
                <a:solidFill>
                  <a:srgbClr val="0C2A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Raw</a:t>
            </a:r>
            <a:r>
              <a:rPr sz="4800" spc="-165" dirty="0">
                <a:solidFill>
                  <a:srgbClr val="0C2A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spc="-380" dirty="0">
                <a:solidFill>
                  <a:srgbClr val="0A23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sz="4800" spc="-380" dirty="0">
                <a:solidFill>
                  <a:srgbClr val="0A23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</a:t>
            </a:r>
            <a:r>
              <a:rPr sz="4800" dirty="0">
                <a:solidFill>
                  <a:srgbClr val="0A23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4800" spc="-265" dirty="0">
                <a:solidFill>
                  <a:srgbClr val="0A2F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Reliable</a:t>
            </a:r>
            <a:r>
              <a:rPr sz="4800" spc="-130" dirty="0">
                <a:solidFill>
                  <a:srgbClr val="0A2F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spc="-180" dirty="0">
                <a:solidFill>
                  <a:srgbClr val="082A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55800" y="7155550"/>
            <a:ext cx="13944600" cy="139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2065" algn="ctr">
              <a:lnSpc>
                <a:spcPct val="150000"/>
              </a:lnSpc>
              <a:spcBef>
                <a:spcPts val="425"/>
              </a:spcBef>
            </a:pPr>
            <a:r>
              <a:rPr sz="3200" dirty="0">
                <a:solidFill>
                  <a:srgbClr val="360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 </a:t>
            </a:r>
            <a:r>
              <a:rPr sz="3200" dirty="0">
                <a:solidFill>
                  <a:srgbClr val="542D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sz="3200" dirty="0">
                <a:solidFill>
                  <a:srgbClr val="2608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“Improved </a:t>
            </a:r>
            <a:r>
              <a:rPr sz="3200" dirty="0">
                <a:solidFill>
                  <a:srgbClr val="2F110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</a:t>
            </a:r>
            <a:r>
              <a:rPr sz="3200" dirty="0">
                <a:solidFill>
                  <a:srgbClr val="2D11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  <a:r>
              <a:rPr lang="en-US" sz="3200" dirty="0">
                <a:solidFill>
                  <a:srgbClr val="2D11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 </a:t>
            </a:r>
            <a:r>
              <a:rPr sz="3200" dirty="0">
                <a:solidFill>
                  <a:srgbClr val="2D11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-a </a:t>
            </a:r>
            <a:r>
              <a:rPr sz="3200" dirty="0">
                <a:solidFill>
                  <a:srgbClr val="3311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 </a:t>
            </a:r>
            <a:r>
              <a:rPr sz="3200" dirty="0">
                <a:solidFill>
                  <a:srgbClr val="330C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sz="3200" dirty="0">
                <a:solidFill>
                  <a:srgbClr val="2805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reflects true </a:t>
            </a:r>
            <a:r>
              <a:rPr sz="3200" dirty="0">
                <a:solidFill>
                  <a:srgbClr val="240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scientific </a:t>
            </a:r>
            <a:r>
              <a:rPr sz="3200" dirty="0">
                <a:solidFill>
                  <a:srgbClr val="3311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influence </a:t>
            </a:r>
            <a:r>
              <a:rPr sz="3200" dirty="0">
                <a:solidFill>
                  <a:srgbClr val="2D0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lang="en-US" sz="3200" dirty="0">
                <a:solidFill>
                  <a:srgbClr val="34110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emitting non-relevant citations</a:t>
            </a:r>
            <a:r>
              <a:rPr sz="320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BE89780-2B5F-7503-BAC0-41B79E5D70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5194" y="4023432"/>
            <a:ext cx="2224406" cy="3534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A15EA80-562F-3B3F-2C86-9E09AAA90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9894" y="5376759"/>
            <a:ext cx="815411" cy="300141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C520CD0-8709-A899-9F08-FC0B785F498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369332"/>
          </a:xfrm>
        </p:spPr>
        <p:txBody>
          <a:bodyPr/>
          <a:lstStyle/>
          <a:p>
            <a:fld id="{B6F15528-21DE-4FAA-801E-634DDDAF4B2B}" type="slidenum">
              <a:rPr lang="en-US" sz="2400" smtClean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0DB75-DF7A-107A-855F-EAE80A5FC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99483DC-6AE3-E0A7-BEEC-7DD2768B5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685800"/>
            <a:ext cx="16662400" cy="1107996"/>
          </a:xfrm>
        </p:spPr>
        <p:txBody>
          <a:bodyPr/>
          <a:lstStyle/>
          <a:p>
            <a:r>
              <a:rPr lang="en-US" sz="7200" spc="-305" dirty="0">
                <a:solidFill>
                  <a:srgbClr val="082A42"/>
                </a:solidFill>
              </a:rPr>
              <a:t>Impact Factor</a:t>
            </a:r>
            <a:endParaRPr lang="en-US" sz="72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54420D-2321-F98F-3D87-646F282CF817}"/>
              </a:ext>
            </a:extLst>
          </p:cNvPr>
          <p:cNvSpPr txBox="1"/>
          <p:nvPr/>
        </p:nvSpPr>
        <p:spPr>
          <a:xfrm>
            <a:off x="436283" y="2148925"/>
            <a:ext cx="17140517" cy="3224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500" dirty="0"/>
              <a:t>The Impact Factor is a measure reflecting the yearly mean number of citations to recent articles published in a specific journal.</a:t>
            </a:r>
            <a:br>
              <a:rPr lang="en-US" sz="3500" dirty="0"/>
            </a:br>
            <a:r>
              <a:rPr lang="en-US" sz="3500" dirty="0"/>
              <a:t>This metric serves as the decisive factor in academic promotion and research funding.</a:t>
            </a:r>
          </a:p>
          <a:p>
            <a:pPr>
              <a:lnSpc>
                <a:spcPct val="150000"/>
              </a:lnSpc>
            </a:pPr>
            <a:r>
              <a:rPr lang="en-US" sz="3500" dirty="0"/>
              <a:t>Because the stakes are so high, the incentive to game the system is immense.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D78E0F-8301-2626-F970-8F350B2A45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45"/>
          <a:stretch>
            <a:fillRect/>
          </a:stretch>
        </p:blipFill>
        <p:spPr>
          <a:xfrm>
            <a:off x="965200" y="7240392"/>
            <a:ext cx="15129922" cy="18411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A8220C2-C27A-5EAE-80DE-C830EA25985C}"/>
              </a:ext>
            </a:extLst>
          </p:cNvPr>
          <p:cNvSpPr txBox="1"/>
          <p:nvPr/>
        </p:nvSpPr>
        <p:spPr>
          <a:xfrm>
            <a:off x="812800" y="6439575"/>
            <a:ext cx="7315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Calculation: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D758F2A-749A-ADE4-31D2-0FEC3E81DC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369332"/>
          </a:xfrm>
        </p:spPr>
        <p:txBody>
          <a:bodyPr/>
          <a:lstStyle/>
          <a:p>
            <a:fld id="{B6F15528-21DE-4FAA-801E-634DDDAF4B2B}" type="slidenum">
              <a:rPr lang="en-US" sz="2400" smtClean="0"/>
              <a:t>5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491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0962C-7352-17C9-03DD-284E1E00C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C4F9C7-F318-0822-BED1-DA6041B1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56" y="685800"/>
            <a:ext cx="16662400" cy="1107996"/>
          </a:xfrm>
        </p:spPr>
        <p:txBody>
          <a:bodyPr/>
          <a:lstStyle/>
          <a:p>
            <a:r>
              <a:rPr lang="en-US" sz="7200" spc="-305" dirty="0">
                <a:solidFill>
                  <a:srgbClr val="082A42"/>
                </a:solidFill>
              </a:rPr>
              <a:t>The</a:t>
            </a:r>
            <a:r>
              <a:rPr lang="en-US" sz="7200" spc="-325" dirty="0">
                <a:solidFill>
                  <a:srgbClr val="082A42"/>
                </a:solidFill>
              </a:rPr>
              <a:t> </a:t>
            </a:r>
            <a:r>
              <a:rPr lang="en-US" sz="7200" spc="-325" dirty="0">
                <a:solidFill>
                  <a:srgbClr val="0F2F48"/>
                </a:solidFill>
              </a:rPr>
              <a:t>Core</a:t>
            </a:r>
            <a:r>
              <a:rPr lang="en-US" sz="7200" spc="-280" dirty="0">
                <a:solidFill>
                  <a:srgbClr val="0F2F48"/>
                </a:solidFill>
              </a:rPr>
              <a:t> </a:t>
            </a:r>
            <a:r>
              <a:rPr lang="en-US" sz="7200" spc="-145" dirty="0">
                <a:solidFill>
                  <a:srgbClr val="072642"/>
                </a:solidFill>
              </a:rPr>
              <a:t>Hypothesis:</a:t>
            </a:r>
            <a:r>
              <a:rPr lang="en-US" sz="7200" spc="-305" dirty="0">
                <a:solidFill>
                  <a:srgbClr val="072642"/>
                </a:solidFill>
              </a:rPr>
              <a:t> </a:t>
            </a:r>
            <a:r>
              <a:rPr lang="en-US" sz="7200" spc="-40" dirty="0">
                <a:solidFill>
                  <a:srgbClr val="0C2D46"/>
                </a:solidFill>
              </a:rPr>
              <a:t>Stability</a:t>
            </a:r>
            <a:r>
              <a:rPr lang="en-US" sz="7200" spc="-275" dirty="0">
                <a:solidFill>
                  <a:srgbClr val="0C2D46"/>
                </a:solidFill>
              </a:rPr>
              <a:t> </a:t>
            </a:r>
            <a:r>
              <a:rPr lang="en-US" sz="7200" spc="-95" dirty="0">
                <a:solidFill>
                  <a:srgbClr val="0C2D49"/>
                </a:solidFill>
              </a:rPr>
              <a:t>vs.</a:t>
            </a:r>
            <a:r>
              <a:rPr lang="en-US" sz="7200" spc="-540" dirty="0">
                <a:solidFill>
                  <a:srgbClr val="0C2D49"/>
                </a:solidFill>
              </a:rPr>
              <a:t> </a:t>
            </a:r>
            <a:r>
              <a:rPr lang="en-US" sz="7200" spc="-40" dirty="0">
                <a:solidFill>
                  <a:srgbClr val="082A46"/>
                </a:solidFill>
              </a:rPr>
              <a:t>Fragility</a:t>
            </a:r>
            <a:endParaRPr lang="en-US" sz="7200" dirty="0">
              <a:solidFill>
                <a:schemeClr val="tx2"/>
              </a:solidFill>
            </a:endParaRPr>
          </a:p>
        </p:txBody>
      </p:sp>
      <p:sp>
        <p:nvSpPr>
          <p:cNvPr id="3" name="object 13">
            <a:extLst>
              <a:ext uri="{FF2B5EF4-FFF2-40B4-BE49-F238E27FC236}">
                <a16:creationId xmlns:a16="http://schemas.microsoft.com/office/drawing/2014/main" id="{B367C766-726E-3049-5BE6-D2CB49717A87}"/>
              </a:ext>
            </a:extLst>
          </p:cNvPr>
          <p:cNvSpPr txBox="1"/>
          <p:nvPr/>
        </p:nvSpPr>
        <p:spPr>
          <a:xfrm>
            <a:off x="1539240" y="3382393"/>
            <a:ext cx="15062200" cy="73866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366000" algn="l"/>
              </a:tabLst>
            </a:pPr>
            <a:r>
              <a:rPr sz="4700" spc="-415" dirty="0">
                <a:solidFill>
                  <a:srgbClr val="0E2B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Genuine</a:t>
            </a:r>
            <a:r>
              <a:rPr sz="4700" spc="45" dirty="0">
                <a:solidFill>
                  <a:srgbClr val="0E2B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700" spc="-10" dirty="0">
                <a:solidFill>
                  <a:srgbClr val="0C2B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Citations</a:t>
            </a:r>
            <a:r>
              <a:rPr sz="4700" dirty="0">
                <a:solidFill>
                  <a:srgbClr val="0C2B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4700" dirty="0">
                <a:solidFill>
                  <a:srgbClr val="0C2B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sz="4700" spc="-285" dirty="0">
                <a:solidFill>
                  <a:srgbClr val="0726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Manipulated</a:t>
            </a:r>
            <a:r>
              <a:rPr sz="4700" spc="185" dirty="0">
                <a:solidFill>
                  <a:srgbClr val="0726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700" spc="-200" dirty="0">
                <a:solidFill>
                  <a:srgbClr val="0828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Citations</a:t>
            </a:r>
            <a:endParaRPr sz="4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14">
            <a:extLst>
              <a:ext uri="{FF2B5EF4-FFF2-40B4-BE49-F238E27FC236}">
                <a16:creationId xmlns:a16="http://schemas.microsoft.com/office/drawing/2014/main" id="{97F5BA5E-1A4B-715E-13D8-81AA87CB2FA0}"/>
              </a:ext>
            </a:extLst>
          </p:cNvPr>
          <p:cNvSpPr txBox="1"/>
          <p:nvPr/>
        </p:nvSpPr>
        <p:spPr>
          <a:xfrm>
            <a:off x="736600" y="4964187"/>
            <a:ext cx="6674484" cy="113172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7145" marR="5080" indent="-5080" algn="ctr">
              <a:lnSpc>
                <a:spcPts val="3950"/>
              </a:lnSpc>
              <a:spcBef>
                <a:spcPts val="825"/>
              </a:spcBef>
              <a:tabLst>
                <a:tab pos="4441825" algn="l"/>
              </a:tabLst>
            </a:pPr>
            <a:r>
              <a:rPr lang="en-US" sz="4000" dirty="0">
                <a:solidFill>
                  <a:schemeClr val="tx1"/>
                </a:solidFill>
              </a:rPr>
              <a:t>Robust and steady under network perturbations</a:t>
            </a:r>
            <a:endParaRPr sz="6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15">
            <a:extLst>
              <a:ext uri="{FF2B5EF4-FFF2-40B4-BE49-F238E27FC236}">
                <a16:creationId xmlns:a16="http://schemas.microsoft.com/office/drawing/2014/main" id="{281540F3-6581-BAC0-2514-CEA55ECBC9AE}"/>
              </a:ext>
            </a:extLst>
          </p:cNvPr>
          <p:cNvSpPr txBox="1"/>
          <p:nvPr/>
        </p:nvSpPr>
        <p:spPr>
          <a:xfrm>
            <a:off x="9547020" y="4700358"/>
            <a:ext cx="7628236" cy="2157642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8575" marR="5080" indent="-16510" algn="ctr">
              <a:lnSpc>
                <a:spcPts val="3950"/>
              </a:lnSpc>
              <a:spcBef>
                <a:spcPts val="825"/>
              </a:spcBef>
            </a:pPr>
            <a:r>
              <a:rPr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Fragile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Lacks structural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reinforcement. Fails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reconstruction when the network is 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perturbated</a:t>
            </a:r>
            <a:r>
              <a:rPr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336FBA7-B8CB-E9B5-DFF8-3CD6058FCEF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369332"/>
          </a:xfrm>
        </p:spPr>
        <p:txBody>
          <a:bodyPr/>
          <a:lstStyle/>
          <a:p>
            <a:fld id="{B6F15528-21DE-4FAA-801E-634DDDAF4B2B}" type="slidenum">
              <a:rPr lang="en-US" sz="2400" smtClean="0"/>
              <a:t>6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10129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300" y="9067800"/>
            <a:ext cx="482600" cy="546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08400" y="5473700"/>
            <a:ext cx="1612900" cy="177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37500" y="5473700"/>
            <a:ext cx="1612900" cy="177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63400" y="5461000"/>
            <a:ext cx="1612900" cy="1905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36700" y="2857500"/>
            <a:ext cx="2298700" cy="19939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29300" y="2819400"/>
            <a:ext cx="1803400" cy="20701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740900" y="2933700"/>
            <a:ext cx="2044700" cy="18542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652500" y="3200400"/>
            <a:ext cx="2273300" cy="13081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83507" y="651227"/>
            <a:ext cx="15169293" cy="93102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950" spc="135" dirty="0">
                <a:solidFill>
                  <a:srgbClr val="012D52"/>
                </a:solidFill>
              </a:rPr>
              <a:t>Methodology:</a:t>
            </a:r>
            <a:r>
              <a:rPr sz="5950" spc="310" dirty="0">
                <a:solidFill>
                  <a:srgbClr val="012D52"/>
                </a:solidFill>
              </a:rPr>
              <a:t> </a:t>
            </a:r>
            <a:r>
              <a:rPr sz="5950" spc="-80" dirty="0">
                <a:solidFill>
                  <a:srgbClr val="012A4B"/>
                </a:solidFill>
              </a:rPr>
              <a:t>A</a:t>
            </a:r>
            <a:r>
              <a:rPr sz="5950" spc="-260" dirty="0">
                <a:solidFill>
                  <a:srgbClr val="012A4B"/>
                </a:solidFill>
              </a:rPr>
              <a:t> </a:t>
            </a:r>
            <a:r>
              <a:rPr lang="en-US" sz="5950" spc="-260" dirty="0">
                <a:solidFill>
                  <a:srgbClr val="032A49"/>
                </a:solidFill>
              </a:rPr>
              <a:t>Stability</a:t>
            </a:r>
            <a:r>
              <a:rPr sz="5950" dirty="0">
                <a:solidFill>
                  <a:srgbClr val="032A49"/>
                </a:solidFill>
              </a:rPr>
              <a:t>-</a:t>
            </a:r>
            <a:r>
              <a:rPr sz="5950" spc="50" dirty="0">
                <a:solidFill>
                  <a:srgbClr val="032A49"/>
                </a:solidFill>
              </a:rPr>
              <a:t>Test</a:t>
            </a:r>
            <a:r>
              <a:rPr sz="5950" spc="280" dirty="0">
                <a:solidFill>
                  <a:srgbClr val="032A49"/>
                </a:solidFill>
              </a:rPr>
              <a:t> </a:t>
            </a:r>
            <a:r>
              <a:rPr sz="5950" spc="225" dirty="0">
                <a:solidFill>
                  <a:srgbClr val="012B4D"/>
                </a:solidFill>
              </a:rPr>
              <a:t>for</a:t>
            </a:r>
            <a:r>
              <a:rPr sz="5950" spc="-40" dirty="0">
                <a:solidFill>
                  <a:srgbClr val="012B4D"/>
                </a:solidFill>
              </a:rPr>
              <a:t> </a:t>
            </a:r>
            <a:r>
              <a:rPr sz="5950" spc="-20" dirty="0">
                <a:solidFill>
                  <a:srgbClr val="012D52"/>
                </a:solidFill>
              </a:rPr>
              <a:t>Data</a:t>
            </a:r>
            <a:endParaRPr sz="5950" dirty="0"/>
          </a:p>
        </p:txBody>
      </p:sp>
      <p:sp>
        <p:nvSpPr>
          <p:cNvPr id="11" name="object 11"/>
          <p:cNvSpPr txBox="1"/>
          <p:nvPr/>
        </p:nvSpPr>
        <p:spPr>
          <a:xfrm>
            <a:off x="736600" y="5257800"/>
            <a:ext cx="3291840" cy="26257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12065" algn="ctr">
              <a:lnSpc>
                <a:spcPct val="100000"/>
              </a:lnSpc>
              <a:spcBef>
                <a:spcPts val="120"/>
              </a:spcBef>
            </a:pPr>
            <a:r>
              <a:rPr sz="3800" spc="-10" dirty="0">
                <a:solidFill>
                  <a:srgbClr val="0A2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Perturb</a:t>
            </a:r>
            <a:r>
              <a:rPr lang="en-US" sz="3800" spc="-10" dirty="0">
                <a:solidFill>
                  <a:srgbClr val="0A2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ation</a:t>
            </a:r>
            <a:endParaRPr sz="3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indent="-4445" algn="ctr">
              <a:lnSpc>
                <a:spcPct val="98900"/>
              </a:lnSpc>
              <a:spcBef>
                <a:spcPts val="2775"/>
              </a:spcBef>
            </a:pPr>
            <a:r>
              <a:rPr sz="2850" spc="-75" dirty="0">
                <a:solidFill>
                  <a:srgbClr val="5413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Randomly</a:t>
            </a:r>
            <a:r>
              <a:rPr sz="2850" spc="-85" dirty="0">
                <a:solidFill>
                  <a:srgbClr val="5413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spc="-70" dirty="0">
                <a:solidFill>
                  <a:srgbClr val="4B13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</a:t>
            </a:r>
            <a:r>
              <a:rPr sz="2850" spc="-130" dirty="0">
                <a:solidFill>
                  <a:srgbClr val="4B13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spc="-50" dirty="0">
                <a:solidFill>
                  <a:srgbClr val="4F05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2750" dirty="0">
                <a:solidFill>
                  <a:srgbClr val="4B0F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fraction</a:t>
            </a:r>
            <a:r>
              <a:rPr sz="2750" spc="-20" dirty="0">
                <a:solidFill>
                  <a:srgbClr val="4B0F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50" i="1" dirty="0">
                <a:solidFill>
                  <a:srgbClr val="560C08"/>
                </a:solidFill>
                <a:latin typeface="Arial"/>
                <a:cs typeface="Arial"/>
              </a:rPr>
              <a:t>(Fr)</a:t>
            </a:r>
            <a:r>
              <a:rPr sz="2750" i="1" spc="120" dirty="0">
                <a:solidFill>
                  <a:srgbClr val="560C08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4F110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750" spc="40" dirty="0">
                <a:solidFill>
                  <a:srgbClr val="4F110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50" spc="-20" dirty="0">
                <a:solidFill>
                  <a:srgbClr val="520A0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edges </a:t>
            </a:r>
            <a:r>
              <a:rPr sz="2700" spc="75" dirty="0">
                <a:solidFill>
                  <a:srgbClr val="4F110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2700" dirty="0">
                <a:solidFill>
                  <a:srgbClr val="4F110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dirty="0">
                <a:solidFill>
                  <a:srgbClr val="540A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sz="2700" spc="30" dirty="0">
                <a:solidFill>
                  <a:srgbClr val="540A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spc="-10" dirty="0">
                <a:solidFill>
                  <a:srgbClr val="662B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temporary </a:t>
            </a:r>
            <a:r>
              <a:rPr sz="2750" dirty="0">
                <a:solidFill>
                  <a:srgbClr val="4D13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</a:t>
            </a:r>
            <a:r>
              <a:rPr sz="2750" i="1" spc="-20" dirty="0">
                <a:solidFill>
                  <a:srgbClr val="671113"/>
                </a:solidFill>
                <a:latin typeface="Arial"/>
                <a:cs typeface="Arial"/>
              </a:rPr>
              <a:t>G_T.</a:t>
            </a:r>
            <a:endParaRPr sz="275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56200" y="5223580"/>
            <a:ext cx="3084510" cy="306167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120"/>
              </a:spcBef>
            </a:pPr>
            <a:r>
              <a:rPr sz="3800" spc="-10" dirty="0">
                <a:solidFill>
                  <a:srgbClr val="032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</a:t>
            </a:r>
            <a:r>
              <a:rPr lang="en-US" sz="3800" spc="-10" dirty="0">
                <a:solidFill>
                  <a:srgbClr val="032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ding</a:t>
            </a:r>
            <a:endParaRPr sz="3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5080" indent="17145" algn="ctr">
              <a:lnSpc>
                <a:spcPct val="98900"/>
              </a:lnSpc>
              <a:spcBef>
                <a:spcPts val="2775"/>
              </a:spcBef>
            </a:pPr>
            <a:r>
              <a:rPr sz="2850" spc="-70" dirty="0">
                <a:solidFill>
                  <a:srgbClr val="620E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</a:t>
            </a:r>
            <a:r>
              <a:rPr sz="2850" spc="-105" dirty="0">
                <a:solidFill>
                  <a:srgbClr val="620E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spc="-10" dirty="0">
                <a:solidFill>
                  <a:srgbClr val="590E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</a:t>
            </a:r>
            <a:r>
              <a:rPr sz="2750" dirty="0">
                <a:solidFill>
                  <a:srgbClr val="4F13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  <a:r>
              <a:rPr sz="2750" spc="295" dirty="0">
                <a:solidFill>
                  <a:srgbClr val="4F13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50" spc="-10" dirty="0">
                <a:solidFill>
                  <a:srgbClr val="6615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</a:t>
            </a:r>
            <a:r>
              <a:rPr sz="2700" spc="-40" dirty="0">
                <a:solidFill>
                  <a:srgbClr val="5D0E0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GraphSAGE</a:t>
            </a:r>
            <a:r>
              <a:rPr sz="2700" spc="-35" dirty="0">
                <a:solidFill>
                  <a:srgbClr val="5D0E0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spc="110" dirty="0">
                <a:solidFill>
                  <a:srgbClr val="620C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</a:t>
            </a:r>
            <a:r>
              <a:rPr sz="2750" dirty="0">
                <a:solidFill>
                  <a:srgbClr val="5605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Node2vec</a:t>
            </a:r>
            <a:r>
              <a:rPr lang="en-US" sz="2750" dirty="0">
                <a:solidFill>
                  <a:srgbClr val="5605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embedding</a:t>
            </a:r>
            <a:r>
              <a:rPr sz="2750" spc="75" dirty="0">
                <a:solidFill>
                  <a:srgbClr val="5605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50" spc="-35" dirty="0">
                <a:solidFill>
                  <a:srgbClr val="4B11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models.</a:t>
            </a:r>
            <a:endParaRPr sz="2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21664" y="5223580"/>
            <a:ext cx="3256279" cy="2627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9525" algn="ctr">
              <a:lnSpc>
                <a:spcPct val="100000"/>
              </a:lnSpc>
              <a:spcBef>
                <a:spcPts val="120"/>
              </a:spcBef>
            </a:pPr>
            <a:r>
              <a:rPr sz="3800" spc="50" dirty="0">
                <a:solidFill>
                  <a:srgbClr val="0A2D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</a:t>
            </a:r>
            <a:endParaRPr sz="3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indent="36830" algn="ctr">
              <a:lnSpc>
                <a:spcPct val="97800"/>
              </a:lnSpc>
              <a:spcBef>
                <a:spcPts val="2765"/>
              </a:spcBef>
            </a:pPr>
            <a:r>
              <a:rPr sz="2900" spc="-40" dirty="0">
                <a:solidFill>
                  <a:srgbClr val="5613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Attempt</a:t>
            </a:r>
            <a:r>
              <a:rPr sz="2900" spc="-150" dirty="0">
                <a:solidFill>
                  <a:srgbClr val="5613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900" spc="-25" dirty="0">
                <a:solidFill>
                  <a:srgbClr val="600C0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sz="2700" dirty="0">
                <a:solidFill>
                  <a:srgbClr val="460A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reconstruct</a:t>
            </a:r>
            <a:r>
              <a:rPr sz="2700" spc="625" dirty="0">
                <a:solidFill>
                  <a:srgbClr val="460A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spc="-10" dirty="0">
                <a:solidFill>
                  <a:srgbClr val="5E0A0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removed </a:t>
            </a:r>
            <a:r>
              <a:rPr sz="2750" dirty="0">
                <a:solidFill>
                  <a:srgbClr val="4B18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links</a:t>
            </a:r>
            <a:r>
              <a:rPr sz="2750" spc="20" dirty="0">
                <a:solidFill>
                  <a:srgbClr val="4B18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50" dirty="0">
                <a:solidFill>
                  <a:srgbClr val="5405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sz="2750" spc="25" dirty="0">
                <a:solidFill>
                  <a:srgbClr val="5405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50" spc="-25" dirty="0">
                <a:solidFill>
                  <a:srgbClr val="561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sz="2850" spc="-10" dirty="0">
                <a:solidFill>
                  <a:srgbClr val="6015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embeddings.</a:t>
            </a:r>
            <a:endParaRPr sz="2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287260" y="5223580"/>
            <a:ext cx="3007995" cy="27086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20"/>
              </a:spcBef>
            </a:pPr>
            <a:r>
              <a:rPr sz="3800" spc="-10" dirty="0">
                <a:solidFill>
                  <a:srgbClr val="0126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Validate</a:t>
            </a:r>
            <a:endParaRPr sz="3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5080" indent="-36830" algn="ctr">
              <a:lnSpc>
                <a:spcPct val="97800"/>
              </a:lnSpc>
              <a:spcBef>
                <a:spcPts val="2765"/>
              </a:spcBef>
            </a:pPr>
            <a:r>
              <a:rPr lang="en-US" sz="2900" spc="-10" dirty="0">
                <a:solidFill>
                  <a:srgbClr val="5013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 an Improved IF using only the reliable citation network</a:t>
            </a:r>
            <a:r>
              <a:rPr sz="2850" spc="-10" dirty="0">
                <a:solidFill>
                  <a:srgbClr val="670F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EEB1C13-D0AF-5E8E-77A5-CE8F4F4CE0D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369332"/>
          </a:xfrm>
        </p:spPr>
        <p:txBody>
          <a:bodyPr/>
          <a:lstStyle/>
          <a:p>
            <a:fld id="{B6F15528-21DE-4FAA-801E-634DDDAF4B2B}" type="slidenum">
              <a:rPr lang="en-US" sz="2400" smtClean="0"/>
              <a:t>7</a:t>
            </a:fld>
            <a:endParaRPr lang="en-US" sz="2400" dirty="0"/>
          </a:p>
        </p:txBody>
      </p:sp>
      <p:sp>
        <p:nvSpPr>
          <p:cNvPr id="15" name="Right Brace 17">
            <a:extLst>
              <a:ext uri="{FF2B5EF4-FFF2-40B4-BE49-F238E27FC236}">
                <a16:creationId xmlns:a16="http://schemas.microsoft.com/office/drawing/2014/main" id="{92FAC772-CA96-88ED-F60D-2DDAB291BBE8}"/>
              </a:ext>
            </a:extLst>
          </p:cNvPr>
          <p:cNvSpPr/>
          <p:nvPr/>
        </p:nvSpPr>
        <p:spPr>
          <a:xfrm rot="5400000">
            <a:off x="5903375" y="3041254"/>
            <a:ext cx="1390029" cy="10775950"/>
          </a:xfrm>
          <a:prstGeom prst="rightBrac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3E27BEC1-0BC8-CD43-5442-FB51CD25E0A8}"/>
              </a:ext>
            </a:extLst>
          </p:cNvPr>
          <p:cNvSpPr txBox="1"/>
          <p:nvPr/>
        </p:nvSpPr>
        <p:spPr>
          <a:xfrm>
            <a:off x="5179291" y="9067800"/>
            <a:ext cx="26162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Perturbation loop</a:t>
            </a:r>
            <a:endParaRPr lang="he-IL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Right Brace 17">
            <a:extLst>
              <a:ext uri="{FF2B5EF4-FFF2-40B4-BE49-F238E27FC236}">
                <a16:creationId xmlns:a16="http://schemas.microsoft.com/office/drawing/2014/main" id="{689F3A1F-F8D5-FC91-DA92-3CC3848716CC}"/>
              </a:ext>
            </a:extLst>
          </p:cNvPr>
          <p:cNvSpPr/>
          <p:nvPr/>
        </p:nvSpPr>
        <p:spPr>
          <a:xfrm rot="16200000">
            <a:off x="8202491" y="-4567747"/>
            <a:ext cx="1390029" cy="14758556"/>
          </a:xfrm>
          <a:prstGeom prst="rightBrac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10BE22C1-F7C0-0F56-988A-C1835F81FE50}"/>
              </a:ext>
            </a:extLst>
          </p:cNvPr>
          <p:cNvSpPr txBox="1"/>
          <p:nvPr/>
        </p:nvSpPr>
        <p:spPr>
          <a:xfrm>
            <a:off x="8108854" y="1685498"/>
            <a:ext cx="26162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Time loop</a:t>
            </a:r>
            <a:endParaRPr lang="he-IL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B9E64-6FB1-39E2-E27E-2C8CA3CD5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FD266CD-F7EA-0280-3D3D-E4FCCA6DC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672018"/>
            <a:ext cx="16662400" cy="1107996"/>
          </a:xfrm>
        </p:spPr>
        <p:txBody>
          <a:bodyPr/>
          <a:lstStyle/>
          <a:p>
            <a:r>
              <a:rPr lang="en-US" sz="7200" spc="-530" dirty="0" err="1"/>
              <a:t>GraphSAGE</a:t>
            </a:r>
            <a:r>
              <a:rPr lang="en-US" sz="7200" spc="145" dirty="0"/>
              <a:t> </a:t>
            </a:r>
            <a:r>
              <a:rPr lang="en-US" sz="7200" spc="-270" dirty="0">
                <a:solidFill>
                  <a:srgbClr val="0A314D"/>
                </a:solidFill>
              </a:rPr>
              <a:t>Embedding</a:t>
            </a:r>
            <a:endParaRPr lang="en-US" sz="72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F1DDD9-D545-DBFD-B3B2-724491745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6961" y="2388970"/>
            <a:ext cx="6228358" cy="599302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57A4F-114E-33E7-8B01-C4BDE23DED2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369332"/>
          </a:xfrm>
        </p:spPr>
        <p:txBody>
          <a:bodyPr/>
          <a:lstStyle/>
          <a:p>
            <a:fld id="{B6F15528-21DE-4FAA-801E-634DDDAF4B2B}" type="slidenum">
              <a:rPr lang="en-US" sz="2400" smtClean="0"/>
              <a:t>8</a:t>
            </a:fld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DFE13E-3AFB-1933-1C4F-B5E6E2CC1DAC}"/>
              </a:ext>
            </a:extLst>
          </p:cNvPr>
          <p:cNvSpPr txBox="1"/>
          <p:nvPr/>
        </p:nvSpPr>
        <p:spPr>
          <a:xfrm>
            <a:off x="313426" y="1790055"/>
            <a:ext cx="11243574" cy="7768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Understanding context through Inductive Learning-</a:t>
            </a:r>
          </a:p>
          <a:p>
            <a:pPr algn="l">
              <a:lnSpc>
                <a:spcPct val="150000"/>
              </a:lnSpc>
            </a:pPr>
            <a:r>
              <a:rPr lang="en-US" sz="2800" dirty="0" err="1"/>
              <a:t>GraphSAGE</a:t>
            </a:r>
            <a:r>
              <a:rPr lang="en-US" sz="2800" dirty="0"/>
              <a:t> generates node embeddings by sampling and aggregating features from a node’s local neighborhood.</a:t>
            </a:r>
          </a:p>
          <a:p>
            <a:pPr algn="l">
              <a:lnSpc>
                <a:spcPct val="150000"/>
              </a:lnSpc>
            </a:pPr>
            <a:endParaRPr lang="en-US" sz="2800" dirty="0"/>
          </a:p>
          <a:p>
            <a:pPr algn="l" rtl="1">
              <a:lnSpc>
                <a:spcPct val="150000"/>
              </a:lnSpc>
            </a:pPr>
            <a:r>
              <a:rPr lang="en-US" sz="2800" u="sng" dirty="0"/>
              <a:t>Sampling- </a:t>
            </a:r>
            <a:r>
              <a:rPr lang="en-US" sz="2800" dirty="0"/>
              <a:t>selecting a fixed-size subset of a node’s neighbors</a:t>
            </a:r>
          </a:p>
          <a:p>
            <a:pPr algn="l" rtl="1">
              <a:lnSpc>
                <a:spcPct val="150000"/>
              </a:lnSpc>
            </a:pPr>
            <a:r>
              <a:rPr lang="en-US" sz="2800" u="sng" dirty="0"/>
              <a:t>Aggregating- </a:t>
            </a:r>
            <a:r>
              <a:rPr lang="en-US" sz="2800" dirty="0"/>
              <a:t>combining the sampled neighbors’ feature vectors (e.g., by mean, pooling, or LSTM-based functions) into a single representation that summarizes the node’s local neighborhood</a:t>
            </a:r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u="sng" dirty="0"/>
              <a:t>Why it fits</a:t>
            </a:r>
            <a:r>
              <a:rPr lang="en-US" sz="2800" dirty="0"/>
              <a:t>: It is designed for large, evolving graphs and can generalize to nodes unseen during training. It captures the local “fingerprint” of a citation context.</a:t>
            </a:r>
          </a:p>
        </p:txBody>
      </p:sp>
    </p:spTree>
    <p:extLst>
      <p:ext uri="{BB962C8B-B14F-4D97-AF65-F5344CB8AC3E}">
        <p14:creationId xmlns:p14="http://schemas.microsoft.com/office/powerpoint/2010/main" val="2198285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2468-AAC8-BC05-EFAA-853BDDEAF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A6A7EC2-1056-3B43-06B1-D5CC91A62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672018"/>
            <a:ext cx="16662400" cy="1107996"/>
          </a:xfrm>
        </p:spPr>
        <p:txBody>
          <a:bodyPr/>
          <a:lstStyle/>
          <a:p>
            <a:r>
              <a:rPr lang="en-US" sz="7200" spc="-530" dirty="0"/>
              <a:t>Node2vec Embedding</a:t>
            </a:r>
            <a:endParaRPr lang="en-US" sz="72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1C5A2B-9AFB-3B54-E7F5-6672DEA90CD9}"/>
              </a:ext>
            </a:extLst>
          </p:cNvPr>
          <p:cNvSpPr txBox="1"/>
          <p:nvPr/>
        </p:nvSpPr>
        <p:spPr>
          <a:xfrm>
            <a:off x="324970" y="2278973"/>
            <a:ext cx="10891991" cy="259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Generates node embeddings by simulating multiple random walks on the graph and treating them as sentences. These walks are used as input to the Skip-gram model, which learns embeddings by predicting a node’s context within a sentence.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B49B3D-0F16-D5C2-7656-98A5E0E88A40}"/>
              </a:ext>
            </a:extLst>
          </p:cNvPr>
          <p:cNvSpPr txBox="1"/>
          <p:nvPr/>
        </p:nvSpPr>
        <p:spPr>
          <a:xfrm>
            <a:off x="395857" y="5293429"/>
            <a:ext cx="10556561" cy="198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955">
              <a:lnSpc>
                <a:spcPct val="150000"/>
              </a:lnSpc>
              <a:spcBef>
                <a:spcPts val="130"/>
              </a:spcBef>
            </a:pPr>
            <a:r>
              <a:rPr lang="en-US" sz="2800" u="sng" spc="-10" dirty="0"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r>
              <a:rPr lang="en-US" sz="2800" u="sng" spc="-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u="sng" spc="-30" dirty="0">
                <a:latin typeface="Arial" panose="020B0604020202020204" pitchFamily="34" charset="0"/>
                <a:cs typeface="Arial" panose="020B0604020202020204" pitchFamily="34" charset="0"/>
              </a:rPr>
              <a:t>Parameters:</a:t>
            </a:r>
            <a:endParaRPr lang="en-US" sz="28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indent="249554">
              <a:lnSpc>
                <a:spcPct val="150000"/>
              </a:lnSpc>
              <a:spcBef>
                <a:spcPts val="5"/>
              </a:spcBef>
              <a:buChar char="-"/>
              <a:tabLst>
                <a:tab pos="262255" algn="l"/>
              </a:tabLst>
            </a:pPr>
            <a:r>
              <a:rPr lang="en-US" sz="2800" spc="-6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n-US" sz="280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114" dirty="0"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  <a:r>
              <a:rPr lang="en-US" sz="28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90" dirty="0">
                <a:latin typeface="Arial" panose="020B0604020202020204" pitchFamily="34" charset="0"/>
                <a:cs typeface="Arial" panose="020B0604020202020204" pitchFamily="34" charset="0"/>
              </a:rPr>
              <a:t>(p):</a:t>
            </a:r>
            <a:r>
              <a:rPr lang="en-US" sz="280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45" dirty="0">
                <a:latin typeface="Arial" panose="020B0604020202020204" pitchFamily="34" charset="0"/>
                <a:cs typeface="Arial" panose="020B0604020202020204" pitchFamily="34" charset="0"/>
              </a:rPr>
              <a:t>Controls</a:t>
            </a:r>
            <a:r>
              <a:rPr lang="en-US" sz="28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40" dirty="0">
                <a:latin typeface="Arial" panose="020B0604020202020204" pitchFamily="34" charset="0"/>
                <a:cs typeface="Arial" panose="020B0604020202020204" pitchFamily="34" charset="0"/>
              </a:rPr>
              <a:t>revisiting </a:t>
            </a:r>
            <a:r>
              <a:rPr lang="en-US" sz="2800" spc="-10" dirty="0">
                <a:latin typeface="Arial" panose="020B0604020202020204" pitchFamily="34" charset="0"/>
                <a:cs typeface="Arial" panose="020B0604020202020204" pitchFamily="34" charset="0"/>
              </a:rPr>
              <a:t>nodes.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2255" indent="-232410">
              <a:lnSpc>
                <a:spcPct val="150000"/>
              </a:lnSpc>
              <a:spcBef>
                <a:spcPts val="340"/>
              </a:spcBef>
              <a:buChar char="-"/>
              <a:tabLst>
                <a:tab pos="262255" algn="l"/>
              </a:tabLst>
            </a:pPr>
            <a:r>
              <a:rPr lang="en-US" sz="2800" spc="-50" dirty="0">
                <a:latin typeface="Arial" panose="020B0604020202020204" pitchFamily="34" charset="0"/>
                <a:cs typeface="Arial" panose="020B0604020202020204" pitchFamily="34" charset="0"/>
              </a:rPr>
              <a:t>In-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en-US" sz="280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100" dirty="0"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  <a:r>
              <a:rPr lang="en-US" sz="28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90" dirty="0">
                <a:latin typeface="Arial" panose="020B0604020202020204" pitchFamily="34" charset="0"/>
                <a:cs typeface="Arial" panose="020B0604020202020204" pitchFamily="34" charset="0"/>
              </a:rPr>
              <a:t>(q):</a:t>
            </a:r>
            <a:r>
              <a:rPr lang="en-US" sz="280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45" dirty="0">
                <a:latin typeface="Arial" panose="020B0604020202020204" pitchFamily="34" charset="0"/>
                <a:cs typeface="Arial" panose="020B0604020202020204" pitchFamily="34" charset="0"/>
              </a:rPr>
              <a:t>Controls</a:t>
            </a:r>
            <a:r>
              <a:rPr lang="en-US"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10" dirty="0">
                <a:latin typeface="Arial" panose="020B0604020202020204" pitchFamily="34" charset="0"/>
                <a:cs typeface="Arial" panose="020B0604020202020204" pitchFamily="34" charset="0"/>
              </a:rPr>
              <a:t>moving </a:t>
            </a:r>
            <a:r>
              <a:rPr lang="en-US" sz="2800" spc="-160" dirty="0">
                <a:latin typeface="Arial" panose="020B0604020202020204" pitchFamily="34" charset="0"/>
                <a:cs typeface="Arial" panose="020B0604020202020204" pitchFamily="34" charset="0"/>
              </a:rPr>
              <a:t>outward</a:t>
            </a:r>
            <a:r>
              <a:rPr lang="en-US" sz="28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(BFS</a:t>
            </a:r>
            <a:r>
              <a:rPr lang="en-US" sz="2800" spc="-80" dirty="0">
                <a:latin typeface="Arial" panose="020B0604020202020204" pitchFamily="34" charset="0"/>
                <a:cs typeface="Arial" panose="020B0604020202020204" pitchFamily="34" charset="0"/>
              </a:rPr>
              <a:t> vs</a:t>
            </a:r>
            <a:r>
              <a:rPr lang="en-US" sz="280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10" dirty="0">
                <a:latin typeface="Arial" panose="020B0604020202020204" pitchFamily="34" charset="0"/>
                <a:cs typeface="Arial" panose="020B0604020202020204" pitchFamily="34" charset="0"/>
              </a:rPr>
              <a:t>DFS).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8BE334-F23A-21E0-126E-E74EB857CF9A}"/>
              </a:ext>
            </a:extLst>
          </p:cNvPr>
          <p:cNvSpPr txBox="1"/>
          <p:nvPr/>
        </p:nvSpPr>
        <p:spPr>
          <a:xfrm>
            <a:off x="324970" y="7966659"/>
            <a:ext cx="12039600" cy="568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indent="14604">
              <a:lnSpc>
                <a:spcPts val="4100"/>
              </a:lnSpc>
              <a:spcBef>
                <a:spcPts val="15"/>
              </a:spcBef>
            </a:pPr>
            <a:r>
              <a:rPr lang="en-US" sz="2800" u="sng" spc="-90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en-US" sz="2800" u="sng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en-US" sz="2800" u="sng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u="sng" spc="-50" dirty="0">
                <a:latin typeface="Arial" panose="020B0604020202020204" pitchFamily="34" charset="0"/>
                <a:cs typeface="Arial" panose="020B0604020202020204" pitchFamily="34" charset="0"/>
              </a:rPr>
              <a:t>fits</a:t>
            </a:r>
            <a:r>
              <a:rPr lang="en-US" sz="2800" spc="-5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80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20" dirty="0">
                <a:latin typeface="Arial" panose="020B0604020202020204" pitchFamily="34" charset="0"/>
                <a:cs typeface="Arial" panose="020B0604020202020204" pitchFamily="34" charset="0"/>
              </a:rPr>
              <a:t>Balances</a:t>
            </a:r>
            <a:r>
              <a:rPr lang="en-US" sz="2800" spc="-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10" dirty="0">
                <a:latin typeface="Arial" panose="020B0604020202020204" pitchFamily="34" charset="0"/>
                <a:cs typeface="Arial" panose="020B0604020202020204" pitchFamily="34" charset="0"/>
              </a:rPr>
              <a:t>local</a:t>
            </a:r>
            <a:r>
              <a:rPr lang="en-US" sz="280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40" dirty="0"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en-US" sz="2800" spc="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25" dirty="0"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en-US" sz="2800" spc="-10" dirty="0">
                <a:latin typeface="Arial" panose="020B0604020202020204" pitchFamily="34" charset="0"/>
                <a:cs typeface="Arial" panose="020B0604020202020204" pitchFamily="34" charset="0"/>
              </a:rPr>
              <a:t>global</a:t>
            </a:r>
            <a:r>
              <a:rPr lang="en-US" sz="28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45" dirty="0">
                <a:latin typeface="Arial" panose="020B0604020202020204" pitchFamily="34" charset="0"/>
                <a:cs typeface="Arial" panose="020B0604020202020204" pitchFamily="34" charset="0"/>
              </a:rPr>
              <a:t>structural</a:t>
            </a:r>
            <a:r>
              <a:rPr lang="en-US" sz="28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60" dirty="0">
                <a:latin typeface="Arial" panose="020B0604020202020204" pitchFamily="34" charset="0"/>
                <a:cs typeface="Arial" panose="020B0604020202020204" pitchFamily="34" charset="0"/>
              </a:rPr>
              <a:t>equivalence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A4F726-5073-07FE-92B8-F2E363FA7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3305" y="2432118"/>
            <a:ext cx="5985002" cy="52640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AB79BE-6A2B-650D-160D-6C2437E7A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2200" y="4827917"/>
            <a:ext cx="1524000" cy="472439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C38C621-F134-52ED-EF33-35344EA6B2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369332"/>
          </a:xfrm>
        </p:spPr>
        <p:txBody>
          <a:bodyPr/>
          <a:lstStyle/>
          <a:p>
            <a:fld id="{B6F15528-21DE-4FAA-801E-634DDDAF4B2B}" type="slidenum">
              <a:rPr lang="en-US" sz="2400" smtClean="0"/>
              <a:t>9</a:t>
            </a:fld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50088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8D345-7333-5FC4-6E54-AEE9A26ED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C9A22F0-141E-179F-051A-F0043DBD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672018"/>
            <a:ext cx="16662400" cy="1107996"/>
          </a:xfrm>
        </p:spPr>
        <p:txBody>
          <a:bodyPr/>
          <a:lstStyle/>
          <a:p>
            <a:r>
              <a:rPr lang="en-US" sz="7200" spc="50" dirty="0">
                <a:solidFill>
                  <a:srgbClr val="00233D"/>
                </a:solidFill>
              </a:rPr>
              <a:t>Link</a:t>
            </a:r>
            <a:r>
              <a:rPr lang="en-US" sz="7200" spc="-409" dirty="0">
                <a:solidFill>
                  <a:srgbClr val="00233D"/>
                </a:solidFill>
              </a:rPr>
              <a:t> </a:t>
            </a:r>
            <a:r>
              <a:rPr lang="en-US" sz="7200" spc="-90" dirty="0">
                <a:solidFill>
                  <a:srgbClr val="052849"/>
                </a:solidFill>
              </a:rPr>
              <a:t>Prediction</a:t>
            </a:r>
            <a:endParaRPr lang="en-US" sz="7200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9F20F1-3C37-9C24-B308-32FEAE7B2805}"/>
              </a:ext>
            </a:extLst>
          </p:cNvPr>
          <p:cNvSpPr txBox="1"/>
          <p:nvPr/>
        </p:nvSpPr>
        <p:spPr>
          <a:xfrm>
            <a:off x="1432485" y="7010400"/>
            <a:ext cx="15118230" cy="331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indent="14604">
              <a:lnSpc>
                <a:spcPct val="150000"/>
              </a:lnSpc>
              <a:spcBef>
                <a:spcPts val="15"/>
              </a:spcBef>
            </a:pPr>
            <a:r>
              <a:rPr lang="en-US" sz="3600" u="sng" spc="-9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r>
              <a:rPr lang="en-US" sz="3600" spc="-9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To determine whether an edge should exist between two nodes</a:t>
            </a:r>
            <a:br>
              <a:rPr lang="en-US" sz="3600" spc="-9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u="sng" spc="-7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Significance</a:t>
            </a:r>
            <a:r>
              <a:rPr lang="en-US" sz="3600" spc="-7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3600" spc="5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spc="-18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lang="en-US" sz="3600" spc="4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spc="-8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edges</a:t>
            </a:r>
            <a:r>
              <a:rPr lang="en-US" sz="3600" spc="-3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spc="-13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en-US" sz="36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spc="-1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survive</a:t>
            </a:r>
            <a:r>
              <a:rPr lang="en-US" sz="3600" spc="-3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3600" spc="-7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r>
              <a:rPr lang="en-US" sz="3600" spc="-7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spc="-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  <a:r>
              <a:rPr lang="en-US" sz="3600" spc="-7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spc="-13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</a:t>
            </a:r>
            <a:r>
              <a:rPr lang="en-US" sz="36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spc="-1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perturbations</a:t>
            </a:r>
            <a:r>
              <a:rPr lang="en-US" sz="3600" spc="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spc="-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en-US" sz="3600" spc="-18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deemed as a</a:t>
            </a:r>
            <a:r>
              <a:rPr lang="en-US" sz="3600" spc="3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spc="-1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</a:t>
            </a:r>
            <a:r>
              <a:rPr lang="en-US" sz="36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spc="-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3600" spc="-5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spc="-18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3600" spc="-1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spc="-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Reliable</a:t>
            </a:r>
            <a:r>
              <a:rPr lang="en-US" sz="3600" spc="4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spc="-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Network.</a:t>
            </a:r>
            <a:endParaRPr lang="en-US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indent="14604">
              <a:lnSpc>
                <a:spcPct val="150000"/>
              </a:lnSpc>
              <a:spcBef>
                <a:spcPts val="15"/>
              </a:spcBef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30D1E3-AB04-39F2-EEBB-1EF49E8F23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05"/>
          <a:stretch>
            <a:fillRect/>
          </a:stretch>
        </p:blipFill>
        <p:spPr>
          <a:xfrm>
            <a:off x="3038265" y="1583788"/>
            <a:ext cx="11906670" cy="496941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E7190-10E0-F932-4CD3-05F3FF351E7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369332"/>
          </a:xfrm>
        </p:spPr>
        <p:txBody>
          <a:bodyPr/>
          <a:lstStyle/>
          <a:p>
            <a:fld id="{B6F15528-21DE-4FAA-801E-634DDDAF4B2B}" type="slidenum">
              <a:rPr lang="en-US" sz="2400" smtClean="0"/>
              <a:t>10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90166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2320B-6D1A-4A54-7B27-77B057929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9D35BF3-9BC0-DC3A-3486-89570E062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672018"/>
            <a:ext cx="16662400" cy="1107996"/>
          </a:xfrm>
        </p:spPr>
        <p:txBody>
          <a:bodyPr/>
          <a:lstStyle/>
          <a:p>
            <a:r>
              <a:rPr lang="en-US" sz="7200" spc="-45" dirty="0">
                <a:solidFill>
                  <a:srgbClr val="01284B"/>
                </a:solidFill>
              </a:rPr>
              <a:t>The</a:t>
            </a:r>
            <a:r>
              <a:rPr lang="en-US" sz="7200" spc="-360" dirty="0">
                <a:solidFill>
                  <a:srgbClr val="01284B"/>
                </a:solidFill>
              </a:rPr>
              <a:t> </a:t>
            </a:r>
            <a:r>
              <a:rPr lang="en-US" sz="7200" spc="85" dirty="0">
                <a:solidFill>
                  <a:srgbClr val="01284F"/>
                </a:solidFill>
              </a:rPr>
              <a:t>Algorithm</a:t>
            </a:r>
            <a:r>
              <a:rPr lang="en-US" sz="7200" spc="-440" dirty="0">
                <a:solidFill>
                  <a:srgbClr val="01284F"/>
                </a:solidFill>
              </a:rPr>
              <a:t> </a:t>
            </a:r>
            <a:r>
              <a:rPr lang="en-US" sz="7200" dirty="0">
                <a:solidFill>
                  <a:srgbClr val="032346"/>
                </a:solidFill>
              </a:rPr>
              <a:t>Execution</a:t>
            </a:r>
            <a:r>
              <a:rPr lang="en-US" sz="7200" spc="-235" dirty="0">
                <a:solidFill>
                  <a:srgbClr val="032346"/>
                </a:solidFill>
              </a:rPr>
              <a:t> </a:t>
            </a:r>
            <a:r>
              <a:rPr lang="en-US" sz="7200" spc="-10" dirty="0">
                <a:solidFill>
                  <a:srgbClr val="012852"/>
                </a:solidFill>
              </a:rPr>
              <a:t>Cycle</a:t>
            </a:r>
            <a:endParaRPr lang="en-US" sz="7200" dirty="0">
              <a:solidFill>
                <a:schemeClr val="tx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DE4DE8-33DF-1AAD-5A6B-27BD356F8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800" y="2209800"/>
            <a:ext cx="9125571" cy="11079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136E1C-0433-EF30-BBB6-87D674F5B7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34"/>
          <a:stretch>
            <a:fillRect/>
          </a:stretch>
        </p:blipFill>
        <p:spPr>
          <a:xfrm>
            <a:off x="2336800" y="3304349"/>
            <a:ext cx="9525000" cy="38550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A30456-3E3E-D6BB-F7D6-3A4B2D86CD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793"/>
          <a:stretch>
            <a:fillRect/>
          </a:stretch>
        </p:blipFill>
        <p:spPr>
          <a:xfrm>
            <a:off x="5003800" y="7159432"/>
            <a:ext cx="6924986" cy="939473"/>
          </a:xfrm>
          <a:prstGeom prst="rect">
            <a:avLst/>
          </a:prstGeom>
        </p:spPr>
      </p:pic>
      <p:pic>
        <p:nvPicPr>
          <p:cNvPr id="14" name="Picture 13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9B8492E1-74A3-8B6C-615C-60CDE5B313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32" t="78907" r="10847" b="-1"/>
          <a:stretch>
            <a:fillRect/>
          </a:stretch>
        </p:blipFill>
        <p:spPr>
          <a:xfrm>
            <a:off x="4013200" y="8130281"/>
            <a:ext cx="8839200" cy="16180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A1430EE-EDC1-31C4-1D03-E111BC962B37}"/>
              </a:ext>
            </a:extLst>
          </p:cNvPr>
          <p:cNvSpPr txBox="1"/>
          <p:nvPr/>
        </p:nvSpPr>
        <p:spPr>
          <a:xfrm>
            <a:off x="2383118" y="8573007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</a:rPr>
              <a:t>Output: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CA15F0E-9511-4F9B-54F1-244876C902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82482" y="1780014"/>
            <a:ext cx="2655547" cy="7524051"/>
          </a:xfrm>
          <a:prstGeom prst="rect">
            <a:avLst/>
          </a:prstGeom>
        </p:spPr>
      </p:pic>
      <p:sp>
        <p:nvSpPr>
          <p:cNvPr id="18" name="Right Brace 17">
            <a:extLst>
              <a:ext uri="{FF2B5EF4-FFF2-40B4-BE49-F238E27FC236}">
                <a16:creationId xmlns:a16="http://schemas.microsoft.com/office/drawing/2014/main" id="{89574814-0A54-DCA3-A4C3-0D69184D074A}"/>
              </a:ext>
            </a:extLst>
          </p:cNvPr>
          <p:cNvSpPr/>
          <p:nvPr/>
        </p:nvSpPr>
        <p:spPr>
          <a:xfrm>
            <a:off x="12605371" y="3429000"/>
            <a:ext cx="1390029" cy="6096000"/>
          </a:xfrm>
          <a:prstGeom prst="rightBrace">
            <a:avLst/>
          </a:prstGeom>
          <a:ln w="1587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982472E-AE93-87B1-1162-62CBCF6508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369332"/>
          </a:xfrm>
        </p:spPr>
        <p:txBody>
          <a:bodyPr/>
          <a:lstStyle/>
          <a:p>
            <a:fld id="{B6F15528-21DE-4FAA-801E-634DDDAF4B2B}" type="slidenum">
              <a:rPr lang="en-US" sz="2400" smtClean="0"/>
              <a:t>11</a:t>
            </a:fld>
            <a:endParaRPr lang="en-US" sz="240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4FEF3255-DD69-7FB2-0F2E-ED0F32CCF1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238" y="7629167"/>
            <a:ext cx="1843010" cy="389909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A5DF7467-29F3-0B76-11D6-905D28C7E10B}"/>
              </a:ext>
            </a:extLst>
          </p:cNvPr>
          <p:cNvSpPr txBox="1"/>
          <p:nvPr/>
        </p:nvSpPr>
        <p:spPr>
          <a:xfrm>
            <a:off x="8503238" y="7543800"/>
            <a:ext cx="1676400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200" dirty="0">
                <a:solidFill>
                  <a:srgbClr val="A13B39"/>
                </a:solidFill>
              </a:rPr>
              <a:t>unreliable</a:t>
            </a:r>
            <a:endParaRPr lang="he-IL" sz="2200" dirty="0">
              <a:solidFill>
                <a:srgbClr val="A13B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023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C57A2-C4A8-D82F-0CF2-B40D1D927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05A6D9-7DC7-CE62-4CBD-2FC8CE76C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601" y="1208048"/>
            <a:ext cx="12420600" cy="857812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F74AFC1-7931-8D9D-AA62-2CFBF3EF5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304800"/>
            <a:ext cx="16662400" cy="1107996"/>
          </a:xfrm>
        </p:spPr>
        <p:txBody>
          <a:bodyPr/>
          <a:lstStyle/>
          <a:p>
            <a:r>
              <a:rPr lang="en-US" sz="7200" spc="-45" dirty="0">
                <a:solidFill>
                  <a:srgbClr val="01284B"/>
                </a:solidFill>
              </a:rPr>
              <a:t>sequence diagram</a:t>
            </a:r>
            <a:endParaRPr lang="en-US" sz="7200" dirty="0">
              <a:solidFill>
                <a:schemeClr val="tx2"/>
              </a:solidFill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C64DB16-2346-6149-6446-30D47281549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369332"/>
          </a:xfrm>
        </p:spPr>
        <p:txBody>
          <a:bodyPr/>
          <a:lstStyle/>
          <a:p>
            <a:fld id="{B6F15528-21DE-4FAA-801E-634DDDAF4B2B}" type="slidenum">
              <a:rPr lang="en-US" sz="2400" smtClean="0"/>
              <a:t>12</a:t>
            </a:fld>
            <a:endParaRPr lang="en-US" sz="240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8AC2BC78-CD6B-3803-1B03-B3FBBB121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238" y="7629167"/>
            <a:ext cx="1843010" cy="38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954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2682C-D9B8-2C48-BA63-8074BC10F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5A72B75-7556-B846-2532-51A66B36F0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093"/>
          <a:stretch>
            <a:fillRect/>
          </a:stretch>
        </p:blipFill>
        <p:spPr>
          <a:xfrm>
            <a:off x="-125452" y="2057401"/>
            <a:ext cx="17751010" cy="7696199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E1BB68-F87F-AF8C-8087-40FFD22E46B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369332"/>
          </a:xfrm>
        </p:spPr>
        <p:txBody>
          <a:bodyPr/>
          <a:lstStyle/>
          <a:p>
            <a:fld id="{B6F15528-21DE-4FAA-801E-634DDDAF4B2B}" type="slidenum">
              <a:rPr lang="en-US" sz="2400" smtClean="0"/>
              <a:t>13</a:t>
            </a:fld>
            <a:endParaRPr lang="en-US" sz="2400" dirty="0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84D591A0-B0A5-3368-B721-EE9C208F4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449533"/>
            <a:ext cx="16662400" cy="1107996"/>
          </a:xfrm>
        </p:spPr>
        <p:txBody>
          <a:bodyPr/>
          <a:lstStyle/>
          <a:p>
            <a:r>
              <a:rPr lang="en-US" sz="7200" spc="-45" dirty="0">
                <a:solidFill>
                  <a:srgbClr val="01284B"/>
                </a:solidFill>
              </a:rPr>
              <a:t>Deriving the Improved Impact Factor</a:t>
            </a:r>
            <a:endParaRPr lang="en-US" sz="7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369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rcRect r="2736"/>
          <a:stretch>
            <a:fillRect/>
          </a:stretch>
        </p:blipFill>
        <p:spPr>
          <a:xfrm>
            <a:off x="914400" y="2387600"/>
            <a:ext cx="7028608" cy="59944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362700" y="73025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12700">
            <a:solidFill>
              <a:srgbClr val="8C8C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00613" y="481541"/>
            <a:ext cx="10795000" cy="1009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75" dirty="0">
                <a:solidFill>
                  <a:srgbClr val="001C34"/>
                </a:solidFill>
              </a:rPr>
              <a:t>Expected</a:t>
            </a:r>
            <a:r>
              <a:rPr spc="-55" dirty="0">
                <a:solidFill>
                  <a:srgbClr val="001C34"/>
                </a:solidFill>
              </a:rPr>
              <a:t> </a:t>
            </a:r>
            <a:r>
              <a:rPr spc="-295" dirty="0">
                <a:solidFill>
                  <a:srgbClr val="082136"/>
                </a:solidFill>
              </a:rPr>
              <a:t>Outcomes</a:t>
            </a:r>
            <a:r>
              <a:rPr spc="-85" dirty="0">
                <a:solidFill>
                  <a:srgbClr val="082136"/>
                </a:solidFill>
              </a:rPr>
              <a:t> </a:t>
            </a:r>
            <a:r>
              <a:rPr spc="-254" dirty="0">
                <a:solidFill>
                  <a:srgbClr val="081F31"/>
                </a:solidFill>
              </a:rPr>
              <a:t>and</a:t>
            </a:r>
            <a:r>
              <a:rPr spc="-484" dirty="0">
                <a:solidFill>
                  <a:srgbClr val="081F31"/>
                </a:solidFill>
              </a:rPr>
              <a:t> </a:t>
            </a:r>
            <a:r>
              <a:rPr spc="-165" dirty="0">
                <a:solidFill>
                  <a:srgbClr val="01233F"/>
                </a:solidFill>
              </a:rPr>
              <a:t>Impact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22256" y="8441266"/>
            <a:ext cx="1974214" cy="533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00" spc="-335" dirty="0">
                <a:latin typeface="Arial" panose="020B0604020202020204" pitchFamily="34" charset="0"/>
                <a:cs typeface="Arial" panose="020B0604020202020204" pitchFamily="34" charset="0"/>
              </a:rPr>
              <a:t>Regular</a:t>
            </a:r>
            <a:r>
              <a:rPr sz="330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285" dirty="0">
                <a:solidFill>
                  <a:srgbClr val="0C0C0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endParaRPr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6346" y="8441266"/>
            <a:ext cx="2179320" cy="533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00" spc="-335" dirty="0">
                <a:latin typeface="Arial" panose="020B0604020202020204" pitchFamily="34" charset="0"/>
                <a:cs typeface="Arial" panose="020B0604020202020204" pitchFamily="34" charset="0"/>
              </a:rPr>
              <a:t>Improved</a:t>
            </a:r>
            <a:r>
              <a:rPr sz="330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85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endParaRPr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43008" y="3051175"/>
            <a:ext cx="2442210" cy="1706429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 marR="5080" indent="16510">
              <a:lnSpc>
                <a:spcPct val="83900"/>
              </a:lnSpc>
              <a:spcBef>
                <a:spcPts val="720"/>
              </a:spcBef>
            </a:pPr>
            <a:r>
              <a:rPr sz="3100" spc="-40" dirty="0">
                <a:solidFill>
                  <a:srgbClr val="7C41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3100" spc="-114" dirty="0">
                <a:solidFill>
                  <a:srgbClr val="7C41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105" dirty="0">
                <a:solidFill>
                  <a:srgbClr val="7E3F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Gap:</a:t>
            </a:r>
            <a:r>
              <a:rPr sz="3100" spc="-70" dirty="0">
                <a:solidFill>
                  <a:srgbClr val="7E3F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50" dirty="0">
                <a:solidFill>
                  <a:srgbClr val="87382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Noise, </a:t>
            </a:r>
            <a:r>
              <a:rPr sz="3200" spc="-65" dirty="0">
                <a:solidFill>
                  <a:srgbClr val="7234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Cartels,</a:t>
            </a:r>
            <a:r>
              <a:rPr sz="3200" spc="-110" dirty="0">
                <a:solidFill>
                  <a:srgbClr val="7234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25" dirty="0">
                <a:solidFill>
                  <a:srgbClr val="7C3D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sz="3050" spc="-10" dirty="0">
                <a:solidFill>
                  <a:srgbClr val="8E3F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Errors</a:t>
            </a:r>
            <a:endParaRPr sz="3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3389" y="2656416"/>
            <a:ext cx="5097780" cy="258000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20320">
              <a:lnSpc>
                <a:spcPct val="101400"/>
              </a:lnSpc>
              <a:spcBef>
                <a:spcPts val="75"/>
              </a:spcBef>
            </a:pPr>
            <a:r>
              <a:rPr sz="3300" spc="-215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sz="33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120" dirty="0">
                <a:latin typeface="Arial" panose="020B0604020202020204" pitchFamily="34" charset="0"/>
                <a:cs typeface="Arial" panose="020B0604020202020204" pitchFamily="34" charset="0"/>
              </a:rPr>
              <a:t>anticipate</a:t>
            </a:r>
            <a:r>
              <a:rPr sz="33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175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33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145" dirty="0">
                <a:latin typeface="Arial" panose="020B0604020202020204" pitchFamily="34" charset="0"/>
                <a:cs typeface="Arial" panose="020B0604020202020204" pitchFamily="34" charset="0"/>
              </a:rPr>
              <a:t>Improved</a:t>
            </a:r>
            <a:r>
              <a:rPr sz="33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25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sz="3300" spc="-70" dirty="0">
                <a:latin typeface="Arial" panose="020B0604020202020204" pitchFamily="34" charset="0"/>
                <a:cs typeface="Arial" panose="020B0604020202020204" pitchFamily="34" charset="0"/>
              </a:rPr>
              <a:t>will</a:t>
            </a:r>
            <a:r>
              <a:rPr sz="330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165"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sz="33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170" dirty="0">
                <a:latin typeface="Arial" panose="020B0604020202020204" pitchFamily="34" charset="0"/>
                <a:cs typeface="Arial" panose="020B0604020202020204" pitchFamily="34" charset="0"/>
              </a:rPr>
              <a:t>lower</a:t>
            </a:r>
            <a:r>
              <a:rPr sz="33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105" dirty="0"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sz="33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175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33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10" dirty="0">
                <a:latin typeface="Arial" panose="020B0604020202020204" pitchFamily="34" charset="0"/>
                <a:cs typeface="Arial" panose="020B0604020202020204" pitchFamily="34" charset="0"/>
              </a:rPr>
              <a:t>Regular </a:t>
            </a:r>
            <a:r>
              <a:rPr sz="3300" spc="-70" dirty="0">
                <a:latin typeface="Arial" panose="020B0604020202020204" pitchFamily="34" charset="0"/>
                <a:cs typeface="Arial" panose="020B0604020202020204" pitchFamily="34" charset="0"/>
              </a:rPr>
              <a:t>IF.</a:t>
            </a:r>
            <a:r>
              <a:rPr sz="330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25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sz="33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160" dirty="0">
                <a:latin typeface="Arial" panose="020B0604020202020204" pitchFamily="34" charset="0"/>
                <a:cs typeface="Arial" panose="020B0604020202020204" pitchFamily="34" charset="0"/>
              </a:rPr>
              <a:t>gap</a:t>
            </a:r>
            <a:r>
              <a:rPr sz="33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185" dirty="0">
                <a:latin typeface="Arial" panose="020B0604020202020204" pitchFamily="34" charset="0"/>
                <a:cs typeface="Arial" panose="020B0604020202020204" pitchFamily="34" charset="0"/>
              </a:rPr>
              <a:t>represents</a:t>
            </a:r>
            <a:r>
              <a:rPr sz="3300" spc="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25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3250" spc="-90" dirty="0">
                <a:latin typeface="Arial" panose="020B0604020202020204" pitchFamily="34" charset="0"/>
                <a:cs typeface="Arial" panose="020B0604020202020204" pitchFamily="34" charset="0"/>
              </a:rPr>
              <a:t>manipulation</a:t>
            </a:r>
            <a:r>
              <a:rPr sz="325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50" spc="-235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sz="325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50" spc="-50" dirty="0">
                <a:latin typeface="Arial" panose="020B0604020202020204" pitchFamily="34" charset="0"/>
                <a:cs typeface="Arial" panose="020B0604020202020204" pitchFamily="34" charset="0"/>
              </a:rPr>
              <a:t>successfully </a:t>
            </a:r>
            <a:r>
              <a:rPr sz="3400" spc="-190" dirty="0">
                <a:latin typeface="Arial" panose="020B0604020202020204" pitchFamily="34" charset="0"/>
                <a:cs typeface="Arial" panose="020B0604020202020204" pitchFamily="34" charset="0"/>
              </a:rPr>
              <a:t>filtered</a:t>
            </a:r>
            <a:r>
              <a:rPr sz="34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400" spc="-20" dirty="0">
                <a:latin typeface="Arial" panose="020B0604020202020204" pitchFamily="34" charset="0"/>
                <a:cs typeface="Arial" panose="020B0604020202020204" pitchFamily="34" charset="0"/>
              </a:rPr>
              <a:t>out.</a:t>
            </a:r>
            <a:endParaRPr sz="3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13324" y="5699477"/>
            <a:ext cx="5104130" cy="3120213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 indent="1270">
              <a:lnSpc>
                <a:spcPct val="97200"/>
              </a:lnSpc>
              <a:spcBef>
                <a:spcPts val="235"/>
              </a:spcBef>
            </a:pPr>
            <a:r>
              <a:rPr sz="3450" spc="-4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34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450" spc="-220" dirty="0">
                <a:latin typeface="Arial" panose="020B0604020202020204" pitchFamily="34" charset="0"/>
                <a:cs typeface="Arial" panose="020B0604020202020204" pitchFamily="34" charset="0"/>
              </a:rPr>
              <a:t>Value:</a:t>
            </a:r>
            <a:r>
              <a:rPr sz="345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450" spc="-3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345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450" spc="-10" dirty="0">
                <a:latin typeface="Arial" panose="020B0604020202020204" pitchFamily="34" charset="0"/>
                <a:cs typeface="Arial" panose="020B0604020202020204" pitchFamily="34" charset="0"/>
              </a:rPr>
              <a:t>transparent, </a:t>
            </a:r>
            <a:r>
              <a:rPr sz="3450" spc="-80" dirty="0">
                <a:latin typeface="Arial" panose="020B0604020202020204" pitchFamily="34" charset="0"/>
                <a:cs typeface="Arial" panose="020B0604020202020204" pitchFamily="34" charset="0"/>
              </a:rPr>
              <a:t>complementary</a:t>
            </a:r>
            <a:r>
              <a:rPr sz="345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450" spc="-85" dirty="0">
                <a:latin typeface="Arial" panose="020B0604020202020204" pitchFamily="34" charset="0"/>
                <a:cs typeface="Arial" panose="020B0604020202020204" pitchFamily="34" charset="0"/>
              </a:rPr>
              <a:t>tool</a:t>
            </a:r>
            <a:r>
              <a:rPr sz="34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450" spc="-25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sz="3450" spc="-95" dirty="0"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  <a:r>
              <a:rPr sz="34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450" spc="-85" dirty="0">
                <a:latin typeface="Arial" panose="020B0604020202020204" pitchFamily="34" charset="0"/>
                <a:cs typeface="Arial" panose="020B0604020202020204" pitchFamily="34" charset="0"/>
              </a:rPr>
              <a:t>evaluation,</a:t>
            </a:r>
            <a:r>
              <a:rPr sz="345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450" spc="-90" dirty="0">
                <a:latin typeface="Arial" panose="020B0604020202020204" pitchFamily="34" charset="0"/>
                <a:cs typeface="Arial" panose="020B0604020202020204" pitchFamily="34" charset="0"/>
              </a:rPr>
              <a:t>rewarding </a:t>
            </a:r>
            <a:r>
              <a:rPr sz="3450" spc="-70" dirty="0">
                <a:latin typeface="Arial" panose="020B0604020202020204" pitchFamily="34" charset="0"/>
                <a:cs typeface="Arial" panose="020B0604020202020204" pitchFamily="34" charset="0"/>
              </a:rPr>
              <a:t>genuine</a:t>
            </a:r>
            <a:r>
              <a:rPr sz="34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450" spc="-120" dirty="0">
                <a:latin typeface="Arial" panose="020B0604020202020204" pitchFamily="34" charset="0"/>
                <a:cs typeface="Arial" panose="020B0604020202020204" pitchFamily="34" charset="0"/>
              </a:rPr>
              <a:t>knowledge</a:t>
            </a:r>
            <a:r>
              <a:rPr sz="345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450" spc="-10" dirty="0">
                <a:latin typeface="Arial" panose="020B0604020202020204" pitchFamily="34" charset="0"/>
                <a:cs typeface="Arial" panose="020B0604020202020204" pitchFamily="34" charset="0"/>
              </a:rPr>
              <a:t>patterns </a:t>
            </a:r>
            <a:r>
              <a:rPr sz="3450" spc="-110" dirty="0">
                <a:latin typeface="Arial" panose="020B0604020202020204" pitchFamily="34" charset="0"/>
                <a:cs typeface="Arial" panose="020B0604020202020204" pitchFamily="34" charset="0"/>
              </a:rPr>
              <a:t>over</a:t>
            </a:r>
            <a:r>
              <a:rPr sz="345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450" spc="-110" dirty="0">
                <a:latin typeface="Arial" panose="020B0604020202020204" pitchFamily="34" charset="0"/>
                <a:cs typeface="Arial" panose="020B0604020202020204" pitchFamily="34" charset="0"/>
              </a:rPr>
              <a:t>gaming</a:t>
            </a:r>
            <a:r>
              <a:rPr sz="345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450" spc="-10" dirty="0">
                <a:latin typeface="Arial" panose="020B0604020202020204" pitchFamily="34" charset="0"/>
                <a:cs typeface="Arial" panose="020B0604020202020204" pitchFamily="34" charset="0"/>
              </a:rPr>
              <a:t>strategies.</a:t>
            </a:r>
            <a:endParaRPr sz="3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300F790-B085-6E60-0A7A-ED3D7D0B0DA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369332"/>
          </a:xfrm>
        </p:spPr>
        <p:txBody>
          <a:bodyPr/>
          <a:lstStyle/>
          <a:p>
            <a:fld id="{B6F15528-21DE-4FAA-801E-634DDDAF4B2B}" type="slidenum">
              <a:rPr lang="en-US" sz="2400" smtClean="0"/>
              <a:t>14</a:t>
            </a:fld>
            <a:endParaRPr lang="en-US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6600" y="656802"/>
            <a:ext cx="14401800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6600" spc="-225" dirty="0">
                <a:solidFill>
                  <a:srgbClr val="052642"/>
                </a:solidFill>
              </a:rPr>
              <a:t>Some </a:t>
            </a:r>
            <a:r>
              <a:rPr sz="6600" spc="-225" dirty="0">
                <a:solidFill>
                  <a:srgbClr val="052642"/>
                </a:solidFill>
              </a:rPr>
              <a:t>Validation</a:t>
            </a:r>
            <a:r>
              <a:rPr sz="6600" spc="-170" dirty="0">
                <a:solidFill>
                  <a:srgbClr val="052642"/>
                </a:solidFill>
              </a:rPr>
              <a:t> </a:t>
            </a:r>
            <a:r>
              <a:rPr sz="6600" spc="-300" dirty="0">
                <a:solidFill>
                  <a:srgbClr val="01213D"/>
                </a:solidFill>
              </a:rPr>
              <a:t>and</a:t>
            </a:r>
            <a:r>
              <a:rPr sz="6600" spc="-484" dirty="0">
                <a:solidFill>
                  <a:srgbClr val="01213D"/>
                </a:solidFill>
              </a:rPr>
              <a:t> </a:t>
            </a:r>
            <a:r>
              <a:rPr sz="6600" spc="-254" dirty="0">
                <a:solidFill>
                  <a:srgbClr val="052A44"/>
                </a:solidFill>
              </a:rPr>
              <a:t>Testing</a:t>
            </a:r>
            <a:r>
              <a:rPr sz="6600" spc="-405" dirty="0">
                <a:solidFill>
                  <a:srgbClr val="052A44"/>
                </a:solidFill>
              </a:rPr>
              <a:t> </a:t>
            </a:r>
            <a:r>
              <a:rPr sz="6600" spc="-360" dirty="0">
                <a:solidFill>
                  <a:srgbClr val="052A46"/>
                </a:solidFill>
              </a:rPr>
              <a:t>Plan</a:t>
            </a:r>
            <a:endParaRPr sz="660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5D6A08E-3287-6CC4-143A-7444C87356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369332"/>
          </a:xfrm>
        </p:spPr>
        <p:txBody>
          <a:bodyPr/>
          <a:lstStyle/>
          <a:p>
            <a:fld id="{B6F15528-21DE-4FAA-801E-634DDDAF4B2B}" type="slidenum">
              <a:rPr lang="en-US" sz="2400" smtClean="0"/>
              <a:t>15</a:t>
            </a:fld>
            <a:endParaRPr lang="en-US" sz="2400"/>
          </a:p>
        </p:txBody>
      </p:sp>
      <p:pic>
        <p:nvPicPr>
          <p:cNvPr id="16" name="תמונה 15" descr="תמונה שמכילה טקסט, מכתב, נייר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968D831-6467-C8A6-F0C7-F777BB26875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6" b="57030"/>
          <a:stretch>
            <a:fillRect/>
          </a:stretch>
        </p:blipFill>
        <p:spPr>
          <a:xfrm>
            <a:off x="1727200" y="1684647"/>
            <a:ext cx="13060899" cy="78059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67A21F-B7F3-0C23-ADE7-034D8B3A9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2700000" y="8378801"/>
            <a:ext cx="228600" cy="3496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437173-C4AF-63C8-7444-56CE1534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1600" y="7162800"/>
            <a:ext cx="83827" cy="1295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DD3CA9-EB2F-6CC5-5575-44FA891F9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0000" y="7164000"/>
            <a:ext cx="72000" cy="1112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1B5BC8-2C5F-3678-9145-780962588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DF9D6619-D43F-6880-A6C6-97608E9E6C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6600" y="656802"/>
            <a:ext cx="14401800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6600" spc="-225">
                <a:solidFill>
                  <a:srgbClr val="052642"/>
                </a:solidFill>
              </a:rPr>
              <a:t>Some Validation</a:t>
            </a:r>
            <a:r>
              <a:rPr lang="en-US" sz="6600" spc="-170">
                <a:solidFill>
                  <a:srgbClr val="052642"/>
                </a:solidFill>
              </a:rPr>
              <a:t> </a:t>
            </a:r>
            <a:r>
              <a:rPr lang="en-US" sz="6600" spc="-300">
                <a:solidFill>
                  <a:srgbClr val="01213D"/>
                </a:solidFill>
              </a:rPr>
              <a:t>and</a:t>
            </a:r>
            <a:r>
              <a:rPr lang="en-US" sz="6600" spc="-484">
                <a:solidFill>
                  <a:srgbClr val="01213D"/>
                </a:solidFill>
              </a:rPr>
              <a:t> </a:t>
            </a:r>
            <a:r>
              <a:rPr lang="en-US" sz="6600" spc="-254">
                <a:solidFill>
                  <a:srgbClr val="052A44"/>
                </a:solidFill>
              </a:rPr>
              <a:t>Testing</a:t>
            </a:r>
            <a:r>
              <a:rPr lang="en-US" sz="6600" spc="-405">
                <a:solidFill>
                  <a:srgbClr val="052A44"/>
                </a:solidFill>
              </a:rPr>
              <a:t> </a:t>
            </a:r>
            <a:r>
              <a:rPr lang="en-US" sz="6600" spc="-360">
                <a:solidFill>
                  <a:srgbClr val="052A46"/>
                </a:solidFill>
              </a:rPr>
              <a:t>Plan</a:t>
            </a:r>
            <a:endParaRPr lang="en-US" sz="660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FD3535C-7379-D935-0B32-3E6C1E49031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369332"/>
          </a:xfrm>
        </p:spPr>
        <p:txBody>
          <a:bodyPr/>
          <a:lstStyle/>
          <a:p>
            <a:fld id="{B6F15528-21DE-4FAA-801E-634DDDAF4B2B}" type="slidenum">
              <a:rPr lang="en-US" sz="2400" smtClean="0"/>
              <a:t>16</a:t>
            </a:fld>
            <a:endParaRPr lang="en-US" sz="2400" dirty="0"/>
          </a:p>
        </p:txBody>
      </p:sp>
      <p:pic>
        <p:nvPicPr>
          <p:cNvPr id="6" name="תמונה 5" descr="תמונה שמכילה טקסט, מכתב, נייר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3F4BA47-7FCA-5992-7681-807EAA44C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69" b="8593"/>
          <a:stretch>
            <a:fillRect/>
          </a:stretch>
        </p:blipFill>
        <p:spPr>
          <a:xfrm>
            <a:off x="2489200" y="1552176"/>
            <a:ext cx="11009962" cy="799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062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9800" y="0"/>
            <a:ext cx="4445" cy="9740900"/>
          </a:xfrm>
          <a:custGeom>
            <a:avLst/>
            <a:gdLst/>
            <a:ahLst/>
            <a:cxnLst/>
            <a:rect l="l" t="t" r="r" b="b"/>
            <a:pathLst>
              <a:path w="4444" h="9740900">
                <a:moveTo>
                  <a:pt x="4233" y="9740900"/>
                </a:moveTo>
                <a:lnTo>
                  <a:pt x="0" y="9740900"/>
                </a:lnTo>
                <a:lnTo>
                  <a:pt x="0" y="0"/>
                </a:lnTo>
                <a:lnTo>
                  <a:pt x="4233" y="0"/>
                </a:lnTo>
                <a:lnTo>
                  <a:pt x="4233" y="9740900"/>
                </a:lnTo>
                <a:close/>
              </a:path>
            </a:pathLst>
          </a:custGeom>
          <a:solidFill>
            <a:srgbClr val="6B6B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61016" y="1240367"/>
            <a:ext cx="0" cy="7040245"/>
          </a:xfrm>
          <a:custGeom>
            <a:avLst/>
            <a:gdLst/>
            <a:ahLst/>
            <a:cxnLst/>
            <a:rect l="l" t="t" r="r" b="b"/>
            <a:pathLst>
              <a:path h="7040245">
                <a:moveTo>
                  <a:pt x="0" y="7040033"/>
                </a:moveTo>
                <a:lnTo>
                  <a:pt x="0" y="0"/>
                </a:lnTo>
              </a:path>
            </a:pathLst>
          </a:custGeom>
          <a:ln w="4233">
            <a:solidFill>
              <a:srgbClr val="6B6B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131116" y="1240367"/>
            <a:ext cx="0" cy="7040245"/>
          </a:xfrm>
          <a:custGeom>
            <a:avLst/>
            <a:gdLst/>
            <a:ahLst/>
            <a:cxnLst/>
            <a:rect l="l" t="t" r="r" b="b"/>
            <a:pathLst>
              <a:path h="7040245">
                <a:moveTo>
                  <a:pt x="0" y="7040033"/>
                </a:moveTo>
                <a:lnTo>
                  <a:pt x="0" y="0"/>
                </a:lnTo>
              </a:path>
            </a:pathLst>
          </a:custGeom>
          <a:ln w="4233">
            <a:solidFill>
              <a:srgbClr val="6B6B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535400" y="0"/>
            <a:ext cx="4445" cy="9740900"/>
          </a:xfrm>
          <a:custGeom>
            <a:avLst/>
            <a:gdLst/>
            <a:ahLst/>
            <a:cxnLst/>
            <a:rect l="l" t="t" r="r" b="b"/>
            <a:pathLst>
              <a:path w="4444" h="9740900">
                <a:moveTo>
                  <a:pt x="4233" y="9740900"/>
                </a:moveTo>
                <a:lnTo>
                  <a:pt x="0" y="9740900"/>
                </a:lnTo>
                <a:lnTo>
                  <a:pt x="0" y="0"/>
                </a:lnTo>
                <a:lnTo>
                  <a:pt x="4233" y="0"/>
                </a:lnTo>
                <a:lnTo>
                  <a:pt x="4233" y="9740900"/>
                </a:lnTo>
                <a:close/>
              </a:path>
            </a:pathLst>
          </a:custGeom>
          <a:solidFill>
            <a:srgbClr val="6B6B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46200" y="0"/>
            <a:ext cx="4445" cy="939800"/>
          </a:xfrm>
          <a:custGeom>
            <a:avLst/>
            <a:gdLst/>
            <a:ahLst/>
            <a:cxnLst/>
            <a:rect l="l" t="t" r="r" b="b"/>
            <a:pathLst>
              <a:path w="4444" h="939800">
                <a:moveTo>
                  <a:pt x="4233" y="939800"/>
                </a:moveTo>
                <a:lnTo>
                  <a:pt x="0" y="939800"/>
                </a:lnTo>
                <a:lnTo>
                  <a:pt x="0" y="0"/>
                </a:lnTo>
                <a:lnTo>
                  <a:pt x="4233" y="0"/>
                </a:lnTo>
                <a:lnTo>
                  <a:pt x="4233" y="939800"/>
                </a:lnTo>
                <a:close/>
              </a:path>
            </a:pathLst>
          </a:custGeom>
          <a:solidFill>
            <a:srgbClr val="6B6B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116300" y="0"/>
            <a:ext cx="4445" cy="939800"/>
          </a:xfrm>
          <a:custGeom>
            <a:avLst/>
            <a:gdLst/>
            <a:ahLst/>
            <a:cxnLst/>
            <a:rect l="l" t="t" r="r" b="b"/>
            <a:pathLst>
              <a:path w="4444" h="939800">
                <a:moveTo>
                  <a:pt x="4233" y="939800"/>
                </a:moveTo>
                <a:lnTo>
                  <a:pt x="0" y="939800"/>
                </a:lnTo>
                <a:lnTo>
                  <a:pt x="0" y="0"/>
                </a:lnTo>
                <a:lnTo>
                  <a:pt x="4233" y="0"/>
                </a:lnTo>
                <a:lnTo>
                  <a:pt x="4233" y="939800"/>
                </a:lnTo>
                <a:close/>
              </a:path>
            </a:pathLst>
          </a:custGeom>
          <a:solidFill>
            <a:srgbClr val="6B6B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700" y="8568266"/>
            <a:ext cx="17462500" cy="4445"/>
          </a:xfrm>
          <a:custGeom>
            <a:avLst/>
            <a:gdLst/>
            <a:ahLst/>
            <a:cxnLst/>
            <a:rect l="l" t="t" r="r" b="b"/>
            <a:pathLst>
              <a:path w="17462500" h="4445">
                <a:moveTo>
                  <a:pt x="17462500" y="4233"/>
                </a:moveTo>
                <a:lnTo>
                  <a:pt x="0" y="4233"/>
                </a:lnTo>
                <a:lnTo>
                  <a:pt x="0" y="0"/>
                </a:lnTo>
                <a:lnTo>
                  <a:pt x="17462500" y="0"/>
                </a:lnTo>
                <a:lnTo>
                  <a:pt x="17462500" y="4233"/>
                </a:lnTo>
                <a:close/>
              </a:path>
            </a:pathLst>
          </a:custGeom>
          <a:solidFill>
            <a:srgbClr val="6B6B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700" y="948266"/>
            <a:ext cx="17462500" cy="4445"/>
          </a:xfrm>
          <a:custGeom>
            <a:avLst/>
            <a:gdLst/>
            <a:ahLst/>
            <a:cxnLst/>
            <a:rect l="l" t="t" r="r" b="b"/>
            <a:pathLst>
              <a:path w="17462500" h="4444">
                <a:moveTo>
                  <a:pt x="17462500" y="4233"/>
                </a:moveTo>
                <a:lnTo>
                  <a:pt x="0" y="4233"/>
                </a:lnTo>
                <a:lnTo>
                  <a:pt x="0" y="0"/>
                </a:lnTo>
                <a:lnTo>
                  <a:pt x="17462500" y="0"/>
                </a:lnTo>
                <a:lnTo>
                  <a:pt x="17462500" y="4233"/>
                </a:lnTo>
                <a:close/>
              </a:path>
            </a:pathLst>
          </a:custGeom>
          <a:solidFill>
            <a:srgbClr val="6B6B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240848" y="3352800"/>
            <a:ext cx="9404350" cy="1113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150" spc="-180" dirty="0">
                <a:solidFill>
                  <a:srgbClr val="032448"/>
                </a:solidFill>
              </a:rPr>
              <a:t>Thank you for listening</a:t>
            </a:r>
            <a:endParaRPr sz="7150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D737F5B-C415-6111-EB5C-FB4BC2CEF4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16104" y="8989879"/>
            <a:ext cx="4019296" cy="369332"/>
          </a:xfrm>
        </p:spPr>
        <p:txBody>
          <a:bodyPr/>
          <a:lstStyle/>
          <a:p>
            <a:fld id="{B6F15528-21DE-4FAA-801E-634DDDAF4B2B}" type="slidenum">
              <a:rPr lang="en-US" sz="2400" smtClean="0"/>
              <a:t>17</a:t>
            </a:fld>
            <a:endParaRPr 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A41DA8-C89A-A736-4DCC-FB63B737143A}"/>
              </a:ext>
            </a:extLst>
          </p:cNvPr>
          <p:cNvSpPr txBox="1"/>
          <p:nvPr/>
        </p:nvSpPr>
        <p:spPr>
          <a:xfrm>
            <a:off x="1358900" y="5859832"/>
            <a:ext cx="14741946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600" b="1" dirty="0"/>
              <a:t>References</a:t>
            </a:r>
            <a:endParaRPr lang="en-US" sz="1600" dirty="0"/>
          </a:p>
          <a:p>
            <a:pPr algn="just"/>
            <a:r>
              <a:rPr lang="pt-PT" sz="1400" dirty="0"/>
              <a:t>[1] Avros, R., Farfel, G., &amp; Volkovich, Z. (2025). </a:t>
            </a:r>
            <a:r>
              <a:rPr lang="en-US" sz="1400" i="1" dirty="0"/>
              <a:t>A Nested Structure of Anomalies in Academic Publication Citations</a:t>
            </a:r>
            <a:r>
              <a:rPr lang="en-US" sz="1400" dirty="0"/>
              <a:t>. In Proceedings of the 14th International Conference on Data Science, Technology and Applications (DATA 2025), pages 761-768.</a:t>
            </a:r>
          </a:p>
          <a:p>
            <a:pPr algn="just"/>
            <a:r>
              <a:rPr lang="en-US" sz="1400" dirty="0"/>
              <a:t>[2] </a:t>
            </a:r>
            <a:r>
              <a:rPr lang="en-US" sz="1400" dirty="0" err="1"/>
              <a:t>Avros</a:t>
            </a:r>
            <a:r>
              <a:rPr lang="en-US" sz="1400" dirty="0"/>
              <a:t>, R., Toledano Kitai, D., &amp; </a:t>
            </a:r>
            <a:r>
              <a:rPr lang="en-US" sz="1400" dirty="0" err="1"/>
              <a:t>Volkovich</a:t>
            </a:r>
            <a:r>
              <a:rPr lang="en-US" sz="1400" dirty="0"/>
              <a:t>, Z. (2025). </a:t>
            </a:r>
            <a:r>
              <a:rPr lang="en-US" sz="1400" i="1" dirty="0"/>
              <a:t>Citation Steadiness Analysis with </a:t>
            </a:r>
            <a:r>
              <a:rPr lang="en-US" sz="1400" i="1" dirty="0" err="1"/>
              <a:t>GraphSAGE</a:t>
            </a:r>
            <a:r>
              <a:rPr lang="en-US" sz="1400" i="1" dirty="0"/>
              <a:t> Approach</a:t>
            </a:r>
            <a:r>
              <a:rPr lang="en-US" sz="1400" dirty="0"/>
              <a:t>. Proceedings of the 14th International Conference on Data Science, Technology and Applications (DATA 2025), pages 769-777.</a:t>
            </a:r>
          </a:p>
          <a:p>
            <a:pPr algn="just"/>
            <a:r>
              <a:rPr lang="en-US" sz="1400" dirty="0"/>
              <a:t>[3] </a:t>
            </a:r>
            <a:r>
              <a:rPr lang="en-US" sz="1400" dirty="0" err="1"/>
              <a:t>Avros</a:t>
            </a:r>
            <a:r>
              <a:rPr lang="en-US" sz="1400" dirty="0"/>
              <a:t>, R., Keshet, S., Toledano Kitai, D., Vexler, E., &amp; </a:t>
            </a:r>
            <a:r>
              <a:rPr lang="en-US" sz="1400" dirty="0" err="1"/>
              <a:t>Volkovich</a:t>
            </a:r>
            <a:r>
              <a:rPr lang="en-US" sz="1400" dirty="0"/>
              <a:t>, Z. (2023). </a:t>
            </a:r>
            <a:r>
              <a:rPr lang="en-US" sz="1400" i="1" dirty="0"/>
              <a:t>Detecting Pseudo-Manipulated Citations in Scientific Literature through Perturbations of the Citation Graph</a:t>
            </a:r>
            <a:r>
              <a:rPr lang="en-US" sz="1400" dirty="0"/>
              <a:t>. Mathematics, 11, 3820.</a:t>
            </a:r>
          </a:p>
          <a:p>
            <a:pPr algn="just"/>
            <a:r>
              <a:rPr lang="en-US" sz="1400" dirty="0"/>
              <a:t>[4] Grover, A.; Leskovec, J. </a:t>
            </a:r>
            <a:r>
              <a:rPr lang="en-US" sz="1400" i="1" dirty="0"/>
              <a:t>Node2vec: Scalable Feature Learning for Networks.</a:t>
            </a:r>
            <a:r>
              <a:rPr lang="en-US" sz="1400" dirty="0"/>
              <a:t>  Proceedings of the 22nd ACM SIGKDD International Conference on Knowledge Discovery and Data Mining, KDD ‘16, San Francisco, CA, USA, 13–17 August 2016; pp. 855–864.</a:t>
            </a:r>
          </a:p>
          <a:p>
            <a:pPr algn="just"/>
            <a:r>
              <a:rPr lang="en-US" sz="1400" dirty="0"/>
              <a:t>[5] Hamilton, W. L., Ying, Z., &amp; Leskovec, J. (2017). </a:t>
            </a:r>
            <a:r>
              <a:rPr lang="en-US" sz="1400" i="1" dirty="0"/>
              <a:t>Inductive representation learning on large graphs</a:t>
            </a:r>
            <a:r>
              <a:rPr lang="en-US" sz="1400" dirty="0"/>
              <a:t>.  Advances in Neural Information Processing Systems (Vol. 30). Curran Associates, Inc.</a:t>
            </a:r>
          </a:p>
          <a:p>
            <a:pPr algn="just"/>
            <a:r>
              <a:rPr lang="en-US" sz="1400" dirty="0"/>
              <a:t>[6] Prabha, C. G. (1983). </a:t>
            </a:r>
            <a:r>
              <a:rPr lang="en-US" sz="1400" i="1" dirty="0"/>
              <a:t>Some aspects of citation </a:t>
            </a:r>
            <a:r>
              <a:rPr lang="en-US" sz="1400" i="1" dirty="0" err="1"/>
              <a:t>behaviour</a:t>
            </a:r>
            <a:r>
              <a:rPr lang="en-US" sz="1400" i="1" dirty="0"/>
              <a:t>: A pilot study in business administration</a:t>
            </a:r>
            <a:r>
              <a:rPr lang="en-US" sz="1400" dirty="0"/>
              <a:t>. Journal of the American Society for Information Science, 34(4), 202 206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</TotalTime>
  <Words>928</Words>
  <Application>Microsoft Office PowerPoint</Application>
  <PresentationFormat>Custom</PresentationFormat>
  <Paragraphs>90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Arial MT</vt:lpstr>
      <vt:lpstr>Office Theme</vt:lpstr>
      <vt:lpstr>Real Impact-Factor Analysis Of Academic Journals</vt:lpstr>
      <vt:lpstr>Introduction </vt:lpstr>
      <vt:lpstr>The Hidden Manipulation in Citation Networks</vt:lpstr>
      <vt:lpstr>Our Mission: Refining the Impact Factor </vt:lpstr>
      <vt:lpstr>Impact Factor</vt:lpstr>
      <vt:lpstr>The Core Hypothesis: Stability vs. Fragility</vt:lpstr>
      <vt:lpstr>Methodology: A Stability-Test for Data</vt:lpstr>
      <vt:lpstr>GraphSAGE Embedding</vt:lpstr>
      <vt:lpstr>Node2vec Embedding</vt:lpstr>
      <vt:lpstr>Link Prediction</vt:lpstr>
      <vt:lpstr>The Algorithm Execution Cycle</vt:lpstr>
      <vt:lpstr>sequence diagram</vt:lpstr>
      <vt:lpstr>Deriving the Improved Impact Factor</vt:lpstr>
      <vt:lpstr>Expected Outcomes and Impact</vt:lpstr>
      <vt:lpstr>Some Validation and Testing Plan</vt:lpstr>
      <vt:lpstr>Some Validation and Testing Plan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heba abo qandil</dc:creator>
  <cp:lastModifiedBy>אוריאן חזיזה</cp:lastModifiedBy>
  <cp:revision>41</cp:revision>
  <dcterms:created xsi:type="dcterms:W3CDTF">2026-01-15T12:02:55Z</dcterms:created>
  <dcterms:modified xsi:type="dcterms:W3CDTF">2026-01-24T20:03:19Z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2026-01-15T00:00:00Z</vt:filetime>
  </property>
  <property fmtid="{D5CDD505-2E9C-101B-9397-08002B2CF9AE}" pid="3" name="LastSaved">
    <vt:filetime>2026-01-15T00:00:00Z</vt:filetime>
  </property>
</Properties>
</file>